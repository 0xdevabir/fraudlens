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4103e4b-2714-2d87-3445-cdf72fa4d378}">
          <p14:sldIdLst>
            <p14:sldId id="256"/>
          </p14:sldIdLst>
        </p14:section>
        <p14:section name="The problem" id="{92fc4196-6d0c-b38c-a3e5-990e5cf5637c}">
          <p14:sldIdLst>
            <p14:sldId id="257"/>
            <p14:sldId id="258"/>
          </p14:sldIdLst>
        </p14:section>
        <p14:section name="Our solution" id="{178cd51b-f18f-562f-cb22-67f0e667f03f}">
          <p14:sldIdLst>
            <p14:sldId id="259"/>
          </p14:sldIdLst>
        </p14:section>
        <p14:section name="How it works" id="{b98dd2c3-caa3-e892-2a35-084387bb8db3}">
          <p14:sldIdLst>
            <p14:sldId id="260"/>
          </p14:sldIdLst>
        </p14:section>
        <p14:section name="Intelligence" id="{c7d0350f-98be-af85-3d6d-930c48c43b0e}">
          <p14:sldIdLst>
            <p14:sldId id="261"/>
          </p14:sldIdLst>
        </p14:section>
        <p14:section name="Proof" id="{cfce4ea8-8d3b-4f55-9422-378414a902b3}">
          <p14:sldIdLst>
            <p14:sldId id="262"/>
            <p14:sldId id="263"/>
          </p14:sldIdLst>
        </p14:section>
        <p14:section name="How it is built" id="{e2199f87-b240-c186-29b2-a907e9bf1ee8}">
          <p14:sldIdLst>
            <p14:sldId id="264"/>
            <p14:sldId id="265"/>
          </p14:sldIdLst>
        </p14:section>
        <p14:section name="Why a hero" id="{636fc11a-34db-55b9-62bb-f7905ef4ab3b}">
          <p14:sldIdLst>
            <p14:sldId id="266"/>
          </p14:sldIdLst>
        </p14:section>
        <p14:section name="Closing" id="{11932cf3-2bb0-e4df-7ccc-d7d818c6c77e}">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Team Webnest. Our project is FraudLens: a real-time fraud decision system for mobile money. In one line: it stops the scam before the money moves, explains its reasons in Bangla and English, and keeps a human in charge of anything that cannot be undone. The four numbers at the bottom are from a 25-day test period on synthetic data, including a scam type the models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authorised-push-payment scams so hard. A caller pretends to be wallet staff, or offers a lottery prize or an investment. The victim uses their own phone, their own PIN, from their usual location. Every check on the sender says this is normal. The money lands in a mule wallet and is cashed out at an agent within minutes. Once it is cash, it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wallets today run hand-written rules. On our test data, a rules-only system is right about one alert in eight. And even when it is right, it has other problems: it looks only at the sender, it blocks bluntly, it warns in English, it can't explain itself, and it never learns.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FraudLens answers one question: is this payment going to a scammer, and if so, what is the gentlest thing that will stop it? Every part of the system serves that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customer sees, inside the upay app. A warning in Bangla, at the one moment it can still help. If the customer doesn't know the person, they cancel, and the money never leaves. For riskier payments, they verify again and wait out a cooling-off period. For the riskiest, they're told their money is still safe in their wallet while a person reviews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score receivers, we find mule wallets — 94 of 145 — and 70 of them before any victim had paid. The median lead is 40 hours before the victim's report. Rings link wallets by shared handsets and transfers: 34 rings, 331 wallets, 94% true fraud-cell members. Agent risk needs no labels and still finds every commission-farming agent. And money that got through gets a second chance at cash-out.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from the 25-day test period: 134,545 scored payments and 35.5 lakh taka at risk, with thresholds fixed beforehand on validation data. 86.9% of scams caught at the warning tier, while interrupting only half a percent of honest payments. 3.4 milliseconds p95. And zero differences between what the live service decided and what we evaluated offline. All data is synthetic, and one scam type was hidden from training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 quality, measured as PR-AUC on the test period. Hand-written rules score 0.076. The anomaly model alone 0.175, the mule model alone 0.375. The served transaction model reaches 0.834. Fusing all three is level at 0.835 but slightly behind on validation, so we serve the simpler model and keep the comparison — an honest engineering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3.12 with LightGBM, scikit-learn and SHAP for models. FastAPI, SQLAlchemy, Alembic, Postgres, Redis Streams and server-sent events for the platform. Next.js 16, React 19, Tailwind v4 and d3-force for the console. Everything runs with one command — make demo — with 227 backend tests, lint, a Playwright smoke test of every page as every role, and CI against real Postgres and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of the console. The executive summary shows money stopped, customers interrupted, reviewer queue and latency from the live service. The alert queue shows every interrupted payment over a live feed. The impact simulator lets the business move the threshold and watch money saved, customers interrupted and reviewer hours move together. And the fairness report shows who pays for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 we call it a hero? Compare it with the rules-only systems many wallets run. FraudLens looks where the fraud actually is — the receiving wallet. It responds gently instead of bluntly. It speaks Bangla. It explains every decision. It catches a scam it has never seen. It gets a second chance at cash-out. It keeps humans in charge of every irreversible action. And we proved that the system we serve is exactly the system we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in a scam, the victim presses send, so FraudLens looks at where the money is going. The model ranks and explains, the customer gets the first say, and a person makes every irreversible decision. Thank you — we're happy to take questions or show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img/logo.png">    </p:cNvPr>
          <p:cNvPicPr>
            <a:picLocks noChangeAspect="1"/>
          </p:cNvPicPr>
          <p:nvPr/>
        </p:nvPicPr>
        <p:blipFill>
          <a:blip r:embed="rId1"/>
          <a:stretch>
            <a:fillRect/>
          </a:stretch>
        </p:blipFill>
        <p:spPr>
          <a:xfrm>
            <a:off x="548640" y="6382512"/>
            <a:ext cx="237744" cy="237744"/>
          </a:xfrm>
          <a:prstGeom prst="rect">
            <a:avLst/>
          </a:prstGeom>
        </p:spPr>
      </p:pic>
      <p:sp>
        <p:nvSpPr>
          <p:cNvPr id="3" name="Text 0"/>
          <p:cNvSpPr/>
          <p:nvPr/>
        </p:nvSpPr>
        <p:spPr>
          <a:xfrm>
            <a:off x="868680" y="6364224"/>
            <a:ext cx="3657600" cy="274320"/>
          </a:xfrm>
          <a:prstGeom prst="rect">
            <a:avLst/>
          </a:prstGeom>
          <a:noFill/>
          <a:ln/>
        </p:spPr>
        <p:txBody>
          <a:bodyPr wrap="square" lIns="0" tIns="0" rIns="0" bIns="0" rtlCol="0" anchor="ctr"/>
          <a:lstStyle/>
          <a:p>
            <a:pPr indent="0" marL="0">
              <a:buNone/>
            </a:pPr>
            <a:r>
              <a:rPr lang="en-US" sz="1000" dirty="0">
                <a:solidFill>
                  <a:srgbClr val="5E6B63"/>
                </a:solidFill>
              </a:rPr>
              <a:t>FraudLens  ·  Team Webnest</a:t>
            </a:r>
            <a:endParaRPr lang="en-US" sz="1000" dirty="0"/>
          </a:p>
        </p:txBody>
      </p:sp>
      <p:sp>
        <p:nvSpPr>
          <p:cNvPr id="4" name="Text 1"/>
          <p:cNvSpPr/>
          <p:nvPr>
            <p:ph idx="102" type="title" hasCustomPrompt="1"/>
          </p:nvPr>
        </p:nvSpPr>
        <p:spPr>
          <a:xfrm>
            <a:off x="548640" y="749808"/>
            <a:ext cx="11064240" cy="731520"/>
          </a:xfrm>
          <a:prstGeom prst="rect">
            <a:avLst/>
          </a:prstGeom>
          <a:noFill/>
          <a:ln/>
        </p:spPr>
        <p:txBody>
          <a:bodyPr wrap="square" rtlCol="0"/>
          <a:lstStyle>
            <a:lvl1pPr algn="l" indent="0" marL="0">
              <a:buNone/>
              <a:defRPr lang="en-US" sz="3200" b="1" dirty="0">
                <a:solidFill>
                  <a:schemeClr val="tx2"/>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6231C"/>
        </a:solidFill>
      </p:bgPr>
    </p:bg>
    <p:spTree>
      <p:nvGrpSpPr>
        <p:cNvPr id="1" name=""/>
        <p:cNvGrpSpPr/>
        <p:nvPr/>
      </p:nvGrpSpPr>
      <p:grpSpPr>
        <a:xfrm>
          <a:off x="0" y="0"/>
          <a:ext cx="0" cy="0"/>
          <a:chOff x="0" y="0"/>
          <a:chExt cx="0" cy="0"/>
        </a:xfrm>
      </p:grpSpPr>
      <p:pic>
        <p:nvPicPr>
          <p:cNvPr id="2" name="Image 0" descr="img/logo.png">    </p:cNvPr>
          <p:cNvPicPr>
            <a:picLocks noChangeAspect="1"/>
          </p:cNvPicPr>
          <p:nvPr/>
        </p:nvPicPr>
        <p:blipFill>
          <a:blip r:embed="rId1"/>
          <a:stretch>
            <a:fillRect/>
          </a:stretch>
        </p:blipFill>
        <p:spPr>
          <a:xfrm>
            <a:off x="548640" y="6382512"/>
            <a:ext cx="237744" cy="237744"/>
          </a:xfrm>
          <a:prstGeom prst="rect">
            <a:avLst/>
          </a:prstGeom>
        </p:spPr>
      </p:pic>
      <p:sp>
        <p:nvSpPr>
          <p:cNvPr id="3" name="Text 0"/>
          <p:cNvSpPr/>
          <p:nvPr/>
        </p:nvSpPr>
        <p:spPr>
          <a:xfrm>
            <a:off x="868680" y="6364224"/>
            <a:ext cx="3657600" cy="274320"/>
          </a:xfrm>
          <a:prstGeom prst="rect">
            <a:avLst/>
          </a:prstGeom>
          <a:noFill/>
          <a:ln/>
        </p:spPr>
        <p:txBody>
          <a:bodyPr wrap="square" lIns="0" tIns="0" rIns="0" bIns="0" rtlCol="0" anchor="ctr"/>
          <a:lstStyle/>
          <a:p>
            <a:pPr indent="0" marL="0">
              <a:buNone/>
            </a:pPr>
            <a:r>
              <a:rPr lang="en-US" sz="1000" dirty="0">
                <a:solidFill>
                  <a:srgbClr val="BAC7BC"/>
                </a:solidFill>
              </a:rPr>
              <a:t>FraudLens  ·  Team Webnest</a:t>
            </a:r>
            <a:endParaRPr lang="en-US" sz="1000" dirty="0"/>
          </a:p>
        </p:txBody>
      </p:sp>
      <p:sp>
        <p:nvSpPr>
          <p:cNvPr id="4" name="Text 1"/>
          <p:cNvSpPr/>
          <p:nvPr>
            <p:ph idx="102" type="title" hasCustomPrompt="1"/>
          </p:nvPr>
        </p:nvSpPr>
        <p:spPr>
          <a:xfrm>
            <a:off x="548640" y="749808"/>
            <a:ext cx="11064240" cy="73152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AC7B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6231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slideLayout" Target="../slideLayouts/slideLayout2.xml"/><Relationship Id="rId1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ig circle"/>
          <p:cNvSpPr/>
          <p:nvPr/>
        </p:nvSpPr>
        <p:spPr>
          <a:xfrm>
            <a:off x="7223760" y="-1097280"/>
            <a:ext cx="6766560" cy="6766560"/>
          </a:xfrm>
          <a:prstGeom prst="ellipse">
            <a:avLst/>
          </a:prstGeom>
          <a:solidFill>
            <a:schemeClr val="accent1"/>
          </a:solidFill>
          <a:ln/>
        </p:spPr>
      </p:sp>
      <p:sp>
        <p:nvSpPr>
          <p:cNvPr id="3" name="Yellow circle"/>
          <p:cNvSpPr/>
          <p:nvPr/>
        </p:nvSpPr>
        <p:spPr>
          <a:xfrm>
            <a:off x="10241280" y="4480560"/>
            <a:ext cx="2926080" cy="2926080"/>
          </a:xfrm>
          <a:prstGeom prst="ellipse">
            <a:avLst/>
          </a:prstGeom>
          <a:solidFill>
            <a:schemeClr val="accent2"/>
          </a:solidFill>
          <a:ln/>
        </p:spPr>
      </p:sp>
      <p:sp>
        <p:nvSpPr>
          <p:cNvPr id="4" name="Screen frame"/>
          <p:cNvSpPr/>
          <p:nvPr/>
        </p:nvSpPr>
        <p:spPr>
          <a:xfrm>
            <a:off x="6830568" y="1161288"/>
            <a:ext cx="4809744" cy="3789616"/>
          </a:xfrm>
          <a:prstGeom prst="roundRect">
            <a:avLst>
              <a:gd name="adj" fmla="val 2895"/>
            </a:avLst>
          </a:prstGeom>
          <a:solidFill>
            <a:srgbClr val="1B1B1B"/>
          </a:solidFill>
          <a:ln w="12700">
            <a:solidFill>
              <a:srgbClr val="404040"/>
            </a:solidFill>
            <a:prstDash val="solid"/>
          </a:ln>
          <a:effectLst>
            <a:outerShdw sx="100000" sy="100000" kx="0" ky="0" algn="bl" rotWithShape="0" blurRad="127000" dist="38100" dir="5400000">
              <a:srgbClr val="16231C">
                <a:alpha val="14000"/>
              </a:srgbClr>
            </a:outerShdw>
          </a:effectLst>
        </p:spPr>
      </p:sp>
      <p:pic>
        <p:nvPicPr>
          <p:cNvPr id="5" name="Screenshot summary" descr="img/summary.jpg">    </p:cNvPr>
          <p:cNvPicPr>
            <a:picLocks noChangeAspect="1"/>
          </p:cNvPicPr>
          <p:nvPr/>
        </p:nvPicPr>
        <p:blipFill>
          <a:blip r:embed="rId1"/>
          <a:stretch>
            <a:fillRect/>
          </a:stretch>
        </p:blipFill>
        <p:spPr>
          <a:xfrm>
            <a:off x="6903720" y="1234440"/>
            <a:ext cx="4663440" cy="3643312"/>
          </a:xfrm>
          <a:prstGeom prst="rect">
            <a:avLst/>
          </a:prstGeom>
        </p:spPr>
      </p:pic>
      <p:sp>
        <p:nvSpPr>
          <p:cNvPr id="6" name="Team pill"/>
          <p:cNvSpPr/>
          <p:nvPr/>
        </p:nvSpPr>
        <p:spPr>
          <a:xfrm>
            <a:off x="548640" y="548640"/>
            <a:ext cx="2103120" cy="384048"/>
          </a:xfrm>
          <a:prstGeom prst="roundRect">
            <a:avLst>
              <a:gd name="adj" fmla="val 50000"/>
            </a:avLst>
          </a:prstGeom>
          <a:solidFill>
            <a:schemeClr val="accent2"/>
          </a:solidFill>
          <a:ln/>
        </p:spPr>
      </p:sp>
      <p:sp>
        <p:nvSpPr>
          <p:cNvPr id="7" name="Text 4"/>
          <p:cNvSpPr txBox="1"/>
          <p:nvPr/>
        </p:nvSpPr>
        <p:spPr>
          <a:xfrm>
            <a:off x="548640" y="548640"/>
            <a:ext cx="2103120" cy="384048"/>
          </a:xfrm>
          <a:prstGeom prst="rect">
            <a:avLst/>
          </a:prstGeom>
          <a:noFill/>
          <a:ln/>
        </p:spPr>
        <p:txBody>
          <a:bodyPr wrap="square" lIns="0" tIns="0" rIns="0" bIns="0" rtlCol="0" anchor="ctr"/>
          <a:lstStyle/>
          <a:p>
            <a:pPr algn="ctr" indent="0" marL="0">
              <a:buNone/>
            </a:pPr>
            <a:r>
              <a:rPr lang="en-US" sz="1400" b="1" spc="200" kern="0" dirty="0">
                <a:solidFill>
                  <a:schemeClr val="tx2"/>
                </a:solidFill>
              </a:rPr>
              <a:t>TEAM WEBNEST</a:t>
            </a:r>
            <a:endParaRPr lang="en-US" sz="1400" dirty="0"/>
          </a:p>
        </p:txBody>
      </p:sp>
      <p:pic>
        <p:nvPicPr>
          <p:cNvPr id="8" name="Logo" descr="img/logo.png">    </p:cNvPr>
          <p:cNvPicPr>
            <a:picLocks noChangeAspect="1"/>
          </p:cNvPicPr>
          <p:nvPr/>
        </p:nvPicPr>
        <p:blipFill>
          <a:blip r:embed="rId2"/>
          <a:stretch>
            <a:fillRect/>
          </a:stretch>
        </p:blipFill>
        <p:spPr>
          <a:xfrm>
            <a:off x="548640" y="1417320"/>
            <a:ext cx="960120" cy="960120"/>
          </a:xfrm>
          <a:prstGeom prst="rect">
            <a:avLst/>
          </a:prstGeom>
        </p:spPr>
      </p:pic>
      <p:sp>
        <p:nvSpPr>
          <p:cNvPr id="9" name="Text 5"/>
          <p:cNvSpPr txBox="1"/>
          <p:nvPr/>
        </p:nvSpPr>
        <p:spPr>
          <a:xfrm>
            <a:off x="1691640" y="1371600"/>
            <a:ext cx="5029200" cy="1051560"/>
          </a:xfrm>
          <a:prstGeom prst="rect">
            <a:avLst/>
          </a:prstGeom>
          <a:noFill/>
          <a:ln/>
        </p:spPr>
        <p:txBody>
          <a:bodyPr wrap="square" lIns="0" tIns="0" rIns="0" bIns="0" rtlCol="0" anchor="ctr"/>
          <a:lstStyle/>
          <a:p>
            <a:pPr indent="0" marL="0">
              <a:buNone/>
            </a:pPr>
            <a:r>
              <a:rPr lang="en-US" sz="6000" b="1" dirty="0">
                <a:solidFill>
                  <a:schemeClr val="bg1"/>
                </a:solidFill>
                <a:latin typeface="Arial" pitchFamily="34" charset="0"/>
                <a:ea typeface="Arial" pitchFamily="34" charset="-122"/>
                <a:cs typeface="Arial" pitchFamily="34" charset="-120"/>
              </a:rPr>
              <a:t>FraudLens</a:t>
            </a:r>
            <a:endParaRPr lang="en-US" sz="6000" dirty="0"/>
          </a:p>
        </p:txBody>
      </p:sp>
      <p:sp>
        <p:nvSpPr>
          <p:cNvPr id="10" name="Text 6"/>
          <p:cNvSpPr txBox="1"/>
          <p:nvPr/>
        </p:nvSpPr>
        <p:spPr>
          <a:xfrm>
            <a:off x="548640" y="2606040"/>
            <a:ext cx="6217920" cy="502920"/>
          </a:xfrm>
          <a:prstGeom prst="rect">
            <a:avLst/>
          </a:prstGeom>
          <a:noFill/>
          <a:ln/>
        </p:spPr>
        <p:txBody>
          <a:bodyPr wrap="square" lIns="0" tIns="0" rIns="0" bIns="0" rtlCol="0" anchor="t"/>
          <a:lstStyle/>
          <a:p>
            <a:pPr indent="0" marL="0">
              <a:buNone/>
            </a:pPr>
            <a:r>
              <a:rPr lang="en-US" sz="2400" b="1" dirty="0">
                <a:solidFill>
                  <a:schemeClr val="accent2"/>
                </a:solidFill>
              </a:rPr>
              <a:t>Stop the scam before the money moves</a:t>
            </a:r>
            <a:endParaRPr lang="en-US" sz="2400" dirty="0"/>
          </a:p>
        </p:txBody>
      </p:sp>
      <p:sp>
        <p:nvSpPr>
          <p:cNvPr id="11" name="Text 7"/>
          <p:cNvSpPr txBox="1"/>
          <p:nvPr/>
        </p:nvSpPr>
        <p:spPr>
          <a:xfrm>
            <a:off x="548640" y="3200400"/>
            <a:ext cx="6035040" cy="1280160"/>
          </a:xfrm>
          <a:prstGeom prst="rect">
            <a:avLst/>
          </a:prstGeom>
          <a:noFill/>
          <a:ln/>
        </p:spPr>
        <p:txBody>
          <a:bodyPr wrap="square" lIns="0" tIns="0" rIns="0" bIns="0" rtlCol="0" anchor="t"/>
          <a:lstStyle/>
          <a:p>
            <a:pPr indent="0" marL="0">
              <a:lnSpc>
                <a:spcPct val="115000"/>
              </a:lnSpc>
              <a:buNone/>
            </a:pPr>
            <a:r>
              <a:rPr lang="en-US" sz="1600" dirty="0">
                <a:solidFill>
                  <a:srgbClr val="D5DED3"/>
                </a:solidFill>
              </a:rPr>
              <a:t>Real-time fraud decisions for mobile money in Bangladesh. FraudLens scores every payment, and the wallet it is going to, in a few milliseconds, explains why in Bangla and English, and leaves every irreversible decision to a person.</a:t>
            </a:r>
            <a:endParaRPr lang="en-US" sz="1600" dirty="0"/>
          </a:p>
        </p:txBody>
      </p:sp>
      <p:sp>
        <p:nvSpPr>
          <p:cNvPr id="12" name="Text 8"/>
          <p:cNvSpPr txBox="1"/>
          <p:nvPr/>
        </p:nvSpPr>
        <p:spPr>
          <a:xfrm>
            <a:off x="548640" y="4800600"/>
            <a:ext cx="1463040" cy="502920"/>
          </a:xfrm>
          <a:prstGeom prst="rect">
            <a:avLst/>
          </a:prstGeom>
          <a:noFill/>
          <a:ln/>
        </p:spPr>
        <p:txBody>
          <a:bodyPr wrap="square" lIns="0" tIns="0" rIns="0" bIns="0" rtlCol="0" anchor="t"/>
          <a:lstStyle/>
          <a:p>
            <a:pPr indent="0" marL="0">
              <a:buNone/>
            </a:pPr>
            <a:r>
              <a:rPr lang="en-US" sz="2600" b="1" dirty="0">
                <a:solidFill>
                  <a:schemeClr val="bg1"/>
                </a:solidFill>
              </a:rPr>
              <a:t>86.9%</a:t>
            </a:r>
            <a:endParaRPr lang="en-US" sz="2600" dirty="0"/>
          </a:p>
        </p:txBody>
      </p:sp>
      <p:sp>
        <p:nvSpPr>
          <p:cNvPr id="13" name="Text 9"/>
          <p:cNvSpPr txBox="1"/>
          <p:nvPr/>
        </p:nvSpPr>
        <p:spPr>
          <a:xfrm>
            <a:off x="548640" y="5321808"/>
            <a:ext cx="1508760" cy="548640"/>
          </a:xfrm>
          <a:prstGeom prst="rect">
            <a:avLst/>
          </a:prstGeom>
          <a:noFill/>
          <a:ln/>
        </p:spPr>
        <p:txBody>
          <a:bodyPr wrap="square" lIns="0" tIns="0" rIns="0" bIns="0" rtlCol="0" anchor="t"/>
          <a:lstStyle/>
          <a:p>
            <a:pPr indent="0" marL="0">
              <a:buNone/>
            </a:pPr>
            <a:r>
              <a:rPr lang="en-US" sz="1100" dirty="0">
                <a:solidFill>
                  <a:srgbClr val="BAC7BC"/>
                </a:solidFill>
              </a:rPr>
              <a:t>scams caught at</a:t>
            </a:r>
            <a:endParaRPr lang="en-US" sz="1100" dirty="0"/>
          </a:p>
          <a:p>
            <a:pPr indent="0" marL="0">
              <a:buNone/>
            </a:pPr>
            <a:r>
              <a:rPr lang="en-US" sz="1100" dirty="0">
                <a:solidFill>
                  <a:srgbClr val="BAC7BC"/>
                </a:solidFill>
              </a:rPr>
              <a:t>the warning tier</a:t>
            </a:r>
            <a:endParaRPr lang="en-US" sz="1100" dirty="0"/>
          </a:p>
        </p:txBody>
      </p:sp>
      <p:sp>
        <p:nvSpPr>
          <p:cNvPr id="14" name="Text 10"/>
          <p:cNvSpPr txBox="1"/>
          <p:nvPr/>
        </p:nvSpPr>
        <p:spPr>
          <a:xfrm>
            <a:off x="2121408" y="4800600"/>
            <a:ext cx="1463040" cy="502920"/>
          </a:xfrm>
          <a:prstGeom prst="rect">
            <a:avLst/>
          </a:prstGeom>
          <a:noFill/>
          <a:ln/>
        </p:spPr>
        <p:txBody>
          <a:bodyPr wrap="square" lIns="0" tIns="0" rIns="0" bIns="0" rtlCol="0" anchor="t"/>
          <a:lstStyle/>
          <a:p>
            <a:pPr indent="0" marL="0">
              <a:buNone/>
            </a:pPr>
            <a:r>
              <a:rPr lang="en-US" sz="2600" b="1" dirty="0">
                <a:solidFill>
                  <a:schemeClr val="bg1"/>
                </a:solidFill>
              </a:rPr>
              <a:t>0.53%</a:t>
            </a:r>
            <a:endParaRPr lang="en-US" sz="2600" dirty="0"/>
          </a:p>
        </p:txBody>
      </p:sp>
      <p:sp>
        <p:nvSpPr>
          <p:cNvPr id="15" name="Text 11"/>
          <p:cNvSpPr txBox="1"/>
          <p:nvPr/>
        </p:nvSpPr>
        <p:spPr>
          <a:xfrm>
            <a:off x="2121408" y="5321808"/>
            <a:ext cx="1508760" cy="548640"/>
          </a:xfrm>
          <a:prstGeom prst="rect">
            <a:avLst/>
          </a:prstGeom>
          <a:noFill/>
          <a:ln/>
        </p:spPr>
        <p:txBody>
          <a:bodyPr wrap="square" lIns="0" tIns="0" rIns="0" bIns="0" rtlCol="0" anchor="t"/>
          <a:lstStyle/>
          <a:p>
            <a:pPr indent="0" marL="0">
              <a:buNone/>
            </a:pPr>
            <a:r>
              <a:rPr lang="en-US" sz="1100" dirty="0">
                <a:solidFill>
                  <a:srgbClr val="BAC7BC"/>
                </a:solidFill>
              </a:rPr>
              <a:t>honest payments</a:t>
            </a:r>
            <a:endParaRPr lang="en-US" sz="1100" dirty="0"/>
          </a:p>
          <a:p>
            <a:pPr indent="0" marL="0">
              <a:buNone/>
            </a:pPr>
            <a:r>
              <a:rPr lang="en-US" sz="1100" dirty="0">
                <a:solidFill>
                  <a:srgbClr val="BAC7BC"/>
                </a:solidFill>
              </a:rPr>
              <a:t>interrupted</a:t>
            </a:r>
            <a:endParaRPr lang="en-US" sz="1100" dirty="0"/>
          </a:p>
        </p:txBody>
      </p:sp>
      <p:sp>
        <p:nvSpPr>
          <p:cNvPr id="16" name="Text 12"/>
          <p:cNvSpPr txBox="1"/>
          <p:nvPr/>
        </p:nvSpPr>
        <p:spPr>
          <a:xfrm>
            <a:off x="3694176" y="4800600"/>
            <a:ext cx="1463040" cy="502920"/>
          </a:xfrm>
          <a:prstGeom prst="rect">
            <a:avLst/>
          </a:prstGeom>
          <a:noFill/>
          <a:ln/>
        </p:spPr>
        <p:txBody>
          <a:bodyPr wrap="square" lIns="0" tIns="0" rIns="0" bIns="0" rtlCol="0" anchor="t"/>
          <a:lstStyle/>
          <a:p>
            <a:pPr indent="0" marL="0">
              <a:buNone/>
            </a:pPr>
            <a:r>
              <a:rPr lang="en-US" sz="2600" b="1" dirty="0">
                <a:solidFill>
                  <a:schemeClr val="bg1"/>
                </a:solidFill>
              </a:rPr>
              <a:t>3.4 ms</a:t>
            </a:r>
            <a:endParaRPr lang="en-US" sz="2600" dirty="0"/>
          </a:p>
        </p:txBody>
      </p:sp>
      <p:sp>
        <p:nvSpPr>
          <p:cNvPr id="17" name="Text 13"/>
          <p:cNvSpPr txBox="1"/>
          <p:nvPr/>
        </p:nvSpPr>
        <p:spPr>
          <a:xfrm>
            <a:off x="3694176" y="5321808"/>
            <a:ext cx="1508760" cy="548640"/>
          </a:xfrm>
          <a:prstGeom prst="rect">
            <a:avLst/>
          </a:prstGeom>
          <a:noFill/>
          <a:ln/>
        </p:spPr>
        <p:txBody>
          <a:bodyPr wrap="square" lIns="0" tIns="0" rIns="0" bIns="0" rtlCol="0" anchor="t"/>
          <a:lstStyle/>
          <a:p>
            <a:pPr indent="0" marL="0">
              <a:buNone/>
            </a:pPr>
            <a:r>
              <a:rPr lang="en-US" sz="1100" dirty="0">
                <a:solidFill>
                  <a:srgbClr val="BAC7BC"/>
                </a:solidFill>
              </a:rPr>
              <a:t>p95 to score,</a:t>
            </a:r>
            <a:endParaRPr lang="en-US" sz="1100" dirty="0"/>
          </a:p>
          <a:p>
            <a:pPr indent="0" marL="0">
              <a:buNone/>
            </a:pPr>
            <a:r>
              <a:rPr lang="en-US" sz="1100" dirty="0">
                <a:solidFill>
                  <a:srgbClr val="BAC7BC"/>
                </a:solidFill>
              </a:rPr>
              <a:t>decide, explain</a:t>
            </a:r>
            <a:endParaRPr lang="en-US" sz="1100" dirty="0"/>
          </a:p>
        </p:txBody>
      </p:sp>
      <p:sp>
        <p:nvSpPr>
          <p:cNvPr id="18" name="Text 14"/>
          <p:cNvSpPr txBox="1"/>
          <p:nvPr/>
        </p:nvSpPr>
        <p:spPr>
          <a:xfrm>
            <a:off x="5266944" y="4800600"/>
            <a:ext cx="1463040" cy="502920"/>
          </a:xfrm>
          <a:prstGeom prst="rect">
            <a:avLst/>
          </a:prstGeom>
          <a:noFill/>
          <a:ln/>
        </p:spPr>
        <p:txBody>
          <a:bodyPr wrap="square" lIns="0" tIns="0" rIns="0" bIns="0" rtlCol="0" anchor="t"/>
          <a:lstStyle/>
          <a:p>
            <a:pPr indent="0" marL="0">
              <a:buNone/>
            </a:pPr>
            <a:r>
              <a:rPr lang="en-US" sz="2600" b="1" dirty="0">
                <a:solidFill>
                  <a:schemeClr val="bg1"/>
                </a:solidFill>
              </a:rPr>
              <a:t>0</a:t>
            </a:r>
            <a:endParaRPr lang="en-US" sz="2600" dirty="0"/>
          </a:p>
        </p:txBody>
      </p:sp>
      <p:sp>
        <p:nvSpPr>
          <p:cNvPr id="19" name="Text 15"/>
          <p:cNvSpPr txBox="1"/>
          <p:nvPr/>
        </p:nvSpPr>
        <p:spPr>
          <a:xfrm>
            <a:off x="5266944" y="5321808"/>
            <a:ext cx="1508760" cy="548640"/>
          </a:xfrm>
          <a:prstGeom prst="rect">
            <a:avLst/>
          </a:prstGeom>
          <a:noFill/>
          <a:ln/>
        </p:spPr>
        <p:txBody>
          <a:bodyPr wrap="square" lIns="0" tIns="0" rIns="0" bIns="0" rtlCol="0" anchor="t"/>
          <a:lstStyle/>
          <a:p>
            <a:pPr indent="0" marL="0">
              <a:buNone/>
            </a:pPr>
            <a:r>
              <a:rPr lang="en-US" sz="1100" dirty="0">
                <a:solidFill>
                  <a:srgbClr val="BAC7BC"/>
                </a:solidFill>
              </a:rPr>
              <a:t>served vs. evaluated</a:t>
            </a:r>
            <a:endParaRPr lang="en-US" sz="1100" dirty="0"/>
          </a:p>
          <a:p>
            <a:pPr indent="0" marL="0">
              <a:buNone/>
            </a:pPr>
            <a:r>
              <a:rPr lang="en-US" sz="1100" dirty="0">
                <a:solidFill>
                  <a:srgbClr val="BAC7BC"/>
                </a:solidFill>
              </a:rPr>
              <a:t>differences</a:t>
            </a:r>
            <a:endParaRPr lang="en-US" sz="1100" dirty="0"/>
          </a:p>
        </p:txBody>
      </p:sp>
      <p:sp>
        <p:nvSpPr>
          <p:cNvPr id="20" name="Text 16"/>
          <p:cNvSpPr txBox="1"/>
          <p:nvPr/>
        </p:nvSpPr>
        <p:spPr>
          <a:xfrm>
            <a:off x="548640" y="6263640"/>
            <a:ext cx="3657600" cy="274320"/>
          </a:xfrm>
          <a:prstGeom prst="rect">
            <a:avLst/>
          </a:prstGeom>
          <a:noFill/>
          <a:ln/>
        </p:spPr>
        <p:txBody>
          <a:bodyPr wrap="square" lIns="0" tIns="0" rIns="0" bIns="0" rtlCol="0" anchor="t"/>
          <a:lstStyle/>
          <a:p>
            <a:pPr indent="0" marL="0">
              <a:buNone/>
            </a:pPr>
            <a:r>
              <a:rPr lang="en-US" sz="1100" dirty="0">
                <a:solidFill>
                  <a:srgbClr val="93A698"/>
                </a:solidFill>
              </a:rPr>
              <a:t>Team Webnest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p:nvPr/>
        </p:nvSpPr>
        <p:spPr>
          <a:xfrm>
            <a:off x="548640" y="347472"/>
            <a:ext cx="1257300" cy="292608"/>
          </a:xfrm>
          <a:prstGeom prst="roundRect">
            <a:avLst>
              <a:gd name="adj" fmla="val 50000"/>
            </a:avLst>
          </a:prstGeom>
          <a:solidFill>
            <a:schemeClr val="accent2"/>
          </a:solidFill>
          <a:ln/>
        </p:spPr>
      </p:sp>
      <p:sp>
        <p:nvSpPr>
          <p:cNvPr id="3" name="Kicker text"/>
          <p:cNvSpPr txBox="1"/>
          <p:nvPr/>
        </p:nvSpPr>
        <p:spPr>
          <a:xfrm>
            <a:off x="548640" y="347472"/>
            <a:ext cx="1257300" cy="292608"/>
          </a:xfrm>
          <a:prstGeom prst="rect">
            <a:avLst/>
          </a:prstGeom>
          <a:noFill/>
          <a:ln/>
        </p:spPr>
        <p:txBody>
          <a:bodyPr wrap="square" lIns="0" tIns="0" rIns="0" bIns="0" rtlCol="0" anchor="ctr"/>
          <a:lstStyle/>
          <a:p>
            <a:pPr algn="ctr" indent="0" marL="0">
              <a:buNone/>
            </a:pPr>
            <a:r>
              <a:rPr lang="en-US" sz="1050" b="1" spc="150" kern="0" dirty="0">
                <a:solidFill>
                  <a:schemeClr val="tx2"/>
                </a:solidFill>
              </a:rPr>
              <a:t>THE PROBLEM</a:t>
            </a:r>
            <a:endParaRPr lang="en-US" sz="1050" dirty="0"/>
          </a:p>
        </p:txBody>
      </p:sp>
      <p:sp>
        <p:nvSpPr>
          <p:cNvPr id="4" name="Text 1"/>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In a scam, the victim presses “send” themselves</a:t>
            </a:r>
            <a:endParaRPr lang="en-US" sz="3200" dirty="0"/>
          </a:p>
        </p:txBody>
      </p:sp>
      <p:sp>
        <p:nvSpPr>
          <p:cNvPr id="6" name="Card"/>
          <p:cNvSpPr/>
          <p:nvPr/>
        </p:nvSpPr>
        <p:spPr>
          <a:xfrm>
            <a:off x="548640" y="1874520"/>
            <a:ext cx="2514600" cy="2606040"/>
          </a:xfrm>
          <a:prstGeom prst="roundRect">
            <a:avLst>
              <a:gd name="adj" fmla="val 5091"/>
            </a:avLst>
          </a:prstGeom>
          <a:solidFill>
            <a:schemeClr val="bg2"/>
          </a:solidFill>
          <a:ln/>
        </p:spPr>
      </p:sp>
      <p:sp>
        <p:nvSpPr>
          <p:cNvPr id="7" name="Icon circle"/>
          <p:cNvSpPr/>
          <p:nvPr/>
        </p:nvSpPr>
        <p:spPr>
          <a:xfrm>
            <a:off x="1417320" y="2103120"/>
            <a:ext cx="777240" cy="777240"/>
          </a:xfrm>
          <a:prstGeom prst="ellipse">
            <a:avLst/>
          </a:prstGeom>
          <a:solidFill>
            <a:srgbClr val="E5484D"/>
          </a:solidFill>
          <a:ln/>
        </p:spPr>
      </p:sp>
      <p:pic>
        <p:nvPicPr>
          <p:cNvPr id="8" name="Icon FaPhoneVolume" descr="preencoded.png">    </p:cNvPr>
          <p:cNvPicPr>
            <a:picLocks noChangeAspect="1"/>
          </p:cNvPicPr>
          <p:nvPr/>
        </p:nvPicPr>
        <p:blipFill>
          <a:blip r:embed="rId1"/>
          <a:stretch>
            <a:fillRect/>
          </a:stretch>
        </p:blipFill>
        <p:spPr>
          <a:xfrm>
            <a:off x="1611630" y="2297430"/>
            <a:ext cx="388620" cy="388620"/>
          </a:xfrm>
          <a:prstGeom prst="rect">
            <a:avLst/>
          </a:prstGeom>
        </p:spPr>
      </p:pic>
      <p:sp>
        <p:nvSpPr>
          <p:cNvPr id="9" name="Text 5"/>
          <p:cNvSpPr txBox="1"/>
          <p:nvPr/>
        </p:nvSpPr>
        <p:spPr>
          <a:xfrm>
            <a:off x="731520" y="3017520"/>
            <a:ext cx="2148840" cy="365760"/>
          </a:xfrm>
          <a:prstGeom prst="rect">
            <a:avLst/>
          </a:prstGeom>
          <a:noFill/>
          <a:ln/>
        </p:spPr>
        <p:txBody>
          <a:bodyPr wrap="square" lIns="0" tIns="0" rIns="0" bIns="0" rtlCol="0" anchor="t"/>
          <a:lstStyle/>
          <a:p>
            <a:pPr algn="ctr" indent="0" marL="0">
              <a:buNone/>
            </a:pPr>
            <a:r>
              <a:rPr lang="en-US" sz="1800" b="1" dirty="0">
                <a:solidFill>
                  <a:schemeClr val="tx2"/>
                </a:solidFill>
              </a:rPr>
              <a:t>Scammer calls</a:t>
            </a:r>
            <a:endParaRPr lang="en-US" sz="1800" dirty="0"/>
          </a:p>
        </p:txBody>
      </p:sp>
      <p:sp>
        <p:nvSpPr>
          <p:cNvPr id="10" name="Text 6"/>
          <p:cNvSpPr txBox="1"/>
          <p:nvPr/>
        </p:nvSpPr>
        <p:spPr>
          <a:xfrm>
            <a:off x="731520" y="3429000"/>
            <a:ext cx="2148840" cy="960120"/>
          </a:xfrm>
          <a:prstGeom prst="rect">
            <a:avLst/>
          </a:prstGeom>
          <a:noFill/>
          <a:ln/>
        </p:spPr>
        <p:txBody>
          <a:bodyPr wrap="square" lIns="0" tIns="0" rIns="0" bIns="0" rtlCol="0" anchor="t"/>
          <a:lstStyle/>
          <a:p>
            <a:pPr algn="ctr" indent="0" marL="0">
              <a:buNone/>
            </a:pPr>
            <a:r>
              <a:rPr lang="en-US" sz="1350" dirty="0">
                <a:solidFill>
                  <a:srgbClr val="5E6B63"/>
                </a:solidFill>
              </a:rPr>
              <a:t>Poses as upay staff, a lottery office or an investment agent</a:t>
            </a:r>
            <a:endParaRPr lang="en-US" sz="1350" dirty="0"/>
          </a:p>
        </p:txBody>
      </p:sp>
      <p:sp>
        <p:nvSpPr>
          <p:cNvPr id="11" name="Arrow"/>
          <p:cNvSpPr/>
          <p:nvPr/>
        </p:nvSpPr>
        <p:spPr>
          <a:xfrm>
            <a:off x="3108960" y="3172968"/>
            <a:ext cx="274320" cy="0"/>
          </a:xfrm>
          <a:prstGeom prst="line">
            <a:avLst/>
          </a:prstGeom>
          <a:noFill/>
          <a:ln w="31750">
            <a:solidFill>
              <a:srgbClr val="3E7C64"/>
            </a:solidFill>
            <a:prstDash val="solid"/>
            <a:tailEnd type="triangle"/>
          </a:ln>
        </p:spPr>
      </p:sp>
      <p:sp>
        <p:nvSpPr>
          <p:cNvPr id="12" name="Card"/>
          <p:cNvSpPr/>
          <p:nvPr/>
        </p:nvSpPr>
        <p:spPr>
          <a:xfrm>
            <a:off x="3429000" y="1874520"/>
            <a:ext cx="2514600" cy="2606040"/>
          </a:xfrm>
          <a:prstGeom prst="roundRect">
            <a:avLst>
              <a:gd name="adj" fmla="val 5091"/>
            </a:avLst>
          </a:prstGeom>
          <a:solidFill>
            <a:schemeClr val="bg2"/>
          </a:solidFill>
          <a:ln/>
        </p:spPr>
      </p:sp>
      <p:sp>
        <p:nvSpPr>
          <p:cNvPr id="13" name="Icon circle"/>
          <p:cNvSpPr/>
          <p:nvPr/>
        </p:nvSpPr>
        <p:spPr>
          <a:xfrm>
            <a:off x="4297680" y="2103120"/>
            <a:ext cx="777240" cy="777240"/>
          </a:xfrm>
          <a:prstGeom prst="ellipse">
            <a:avLst/>
          </a:prstGeom>
          <a:solidFill>
            <a:srgbClr val="3E7C64"/>
          </a:solidFill>
          <a:ln/>
        </p:spPr>
      </p:sp>
      <p:pic>
        <p:nvPicPr>
          <p:cNvPr id="14" name="Icon FaMobileScreen" descr="preencoded.png">    </p:cNvPr>
          <p:cNvPicPr>
            <a:picLocks noChangeAspect="1"/>
          </p:cNvPicPr>
          <p:nvPr/>
        </p:nvPicPr>
        <p:blipFill>
          <a:blip r:embed="rId2"/>
          <a:stretch>
            <a:fillRect/>
          </a:stretch>
        </p:blipFill>
        <p:spPr>
          <a:xfrm>
            <a:off x="4491990" y="2297430"/>
            <a:ext cx="388620" cy="388620"/>
          </a:xfrm>
          <a:prstGeom prst="rect">
            <a:avLst/>
          </a:prstGeom>
        </p:spPr>
      </p:pic>
      <p:sp>
        <p:nvSpPr>
          <p:cNvPr id="15" name="Text 10"/>
          <p:cNvSpPr txBox="1"/>
          <p:nvPr/>
        </p:nvSpPr>
        <p:spPr>
          <a:xfrm>
            <a:off x="3611880" y="3017520"/>
            <a:ext cx="2148840" cy="365760"/>
          </a:xfrm>
          <a:prstGeom prst="rect">
            <a:avLst/>
          </a:prstGeom>
          <a:noFill/>
          <a:ln/>
        </p:spPr>
        <p:txBody>
          <a:bodyPr wrap="square" lIns="0" tIns="0" rIns="0" bIns="0" rtlCol="0" anchor="t"/>
          <a:lstStyle/>
          <a:p>
            <a:pPr algn="ctr" indent="0" marL="0">
              <a:buNone/>
            </a:pPr>
            <a:r>
              <a:rPr lang="en-US" sz="1800" b="1" dirty="0">
                <a:solidFill>
                  <a:schemeClr val="tx2"/>
                </a:solidFill>
              </a:rPr>
              <a:t>Victim sends</a:t>
            </a:r>
            <a:endParaRPr lang="en-US" sz="1800" dirty="0"/>
          </a:p>
        </p:txBody>
      </p:sp>
      <p:sp>
        <p:nvSpPr>
          <p:cNvPr id="16" name="Text 11"/>
          <p:cNvSpPr txBox="1"/>
          <p:nvPr/>
        </p:nvSpPr>
        <p:spPr>
          <a:xfrm>
            <a:off x="3611880" y="3429000"/>
            <a:ext cx="2148840" cy="960120"/>
          </a:xfrm>
          <a:prstGeom prst="rect">
            <a:avLst/>
          </a:prstGeom>
          <a:noFill/>
          <a:ln/>
        </p:spPr>
        <p:txBody>
          <a:bodyPr wrap="square" lIns="0" tIns="0" rIns="0" bIns="0" rtlCol="0" anchor="t"/>
          <a:lstStyle/>
          <a:p>
            <a:pPr algn="ctr" indent="0" marL="0">
              <a:buNone/>
            </a:pPr>
            <a:r>
              <a:rPr lang="en-US" sz="1350" dirty="0">
                <a:solidFill>
                  <a:srgbClr val="5E6B63"/>
                </a:solidFill>
              </a:rPr>
              <a:t>Genuine phone, PIN and location: every sender check passes</a:t>
            </a:r>
            <a:endParaRPr lang="en-US" sz="1350" dirty="0"/>
          </a:p>
        </p:txBody>
      </p:sp>
      <p:sp>
        <p:nvSpPr>
          <p:cNvPr id="17" name="Arrow"/>
          <p:cNvSpPr/>
          <p:nvPr/>
        </p:nvSpPr>
        <p:spPr>
          <a:xfrm>
            <a:off x="5989320" y="3172968"/>
            <a:ext cx="274320" cy="0"/>
          </a:xfrm>
          <a:prstGeom prst="line">
            <a:avLst/>
          </a:prstGeom>
          <a:noFill/>
          <a:ln w="31750">
            <a:solidFill>
              <a:srgbClr val="3E7C64"/>
            </a:solidFill>
            <a:prstDash val="solid"/>
            <a:tailEnd type="triangle"/>
          </a:ln>
        </p:spPr>
      </p:sp>
      <p:sp>
        <p:nvSpPr>
          <p:cNvPr id="18" name="Card"/>
          <p:cNvSpPr/>
          <p:nvPr/>
        </p:nvSpPr>
        <p:spPr>
          <a:xfrm>
            <a:off x="6309360" y="1874520"/>
            <a:ext cx="2514600" cy="2606040"/>
          </a:xfrm>
          <a:prstGeom prst="roundRect">
            <a:avLst>
              <a:gd name="adj" fmla="val 5091"/>
            </a:avLst>
          </a:prstGeom>
          <a:solidFill>
            <a:schemeClr val="bg2"/>
          </a:solidFill>
          <a:ln/>
        </p:spPr>
      </p:sp>
      <p:sp>
        <p:nvSpPr>
          <p:cNvPr id="19" name="Icon circle"/>
          <p:cNvSpPr/>
          <p:nvPr/>
        </p:nvSpPr>
        <p:spPr>
          <a:xfrm>
            <a:off x="7178040" y="2103120"/>
            <a:ext cx="777240" cy="777240"/>
          </a:xfrm>
          <a:prstGeom prst="ellipse">
            <a:avLst/>
          </a:prstGeom>
          <a:solidFill>
            <a:srgbClr val="F08A24"/>
          </a:solidFill>
          <a:ln/>
        </p:spPr>
      </p:sp>
      <p:pic>
        <p:nvPicPr>
          <p:cNvPr id="20" name="Icon FaUserNinja" descr="preencoded.png">    </p:cNvPr>
          <p:cNvPicPr>
            <a:picLocks noChangeAspect="1"/>
          </p:cNvPicPr>
          <p:nvPr/>
        </p:nvPicPr>
        <p:blipFill>
          <a:blip r:embed="rId3"/>
          <a:stretch>
            <a:fillRect/>
          </a:stretch>
        </p:blipFill>
        <p:spPr>
          <a:xfrm>
            <a:off x="7372350" y="2297430"/>
            <a:ext cx="388620" cy="388620"/>
          </a:xfrm>
          <a:prstGeom prst="rect">
            <a:avLst/>
          </a:prstGeom>
        </p:spPr>
      </p:pic>
      <p:sp>
        <p:nvSpPr>
          <p:cNvPr id="21" name="Text 15"/>
          <p:cNvSpPr txBox="1"/>
          <p:nvPr/>
        </p:nvSpPr>
        <p:spPr>
          <a:xfrm>
            <a:off x="6492240" y="3017520"/>
            <a:ext cx="2148840" cy="365760"/>
          </a:xfrm>
          <a:prstGeom prst="rect">
            <a:avLst/>
          </a:prstGeom>
          <a:noFill/>
          <a:ln/>
        </p:spPr>
        <p:txBody>
          <a:bodyPr wrap="square" lIns="0" tIns="0" rIns="0" bIns="0" rtlCol="0" anchor="t"/>
          <a:lstStyle/>
          <a:p>
            <a:pPr algn="ctr" indent="0" marL="0">
              <a:buNone/>
            </a:pPr>
            <a:r>
              <a:rPr lang="en-US" sz="1800" b="1" dirty="0">
                <a:solidFill>
                  <a:schemeClr val="tx2"/>
                </a:solidFill>
              </a:rPr>
              <a:t>Mule wallet</a:t>
            </a:r>
            <a:endParaRPr lang="en-US" sz="1800" dirty="0"/>
          </a:p>
        </p:txBody>
      </p:sp>
      <p:sp>
        <p:nvSpPr>
          <p:cNvPr id="22" name="Text 16"/>
          <p:cNvSpPr txBox="1"/>
          <p:nvPr/>
        </p:nvSpPr>
        <p:spPr>
          <a:xfrm>
            <a:off x="6492240" y="3429000"/>
            <a:ext cx="2148840" cy="960120"/>
          </a:xfrm>
          <a:prstGeom prst="rect">
            <a:avLst/>
          </a:prstGeom>
          <a:noFill/>
          <a:ln/>
        </p:spPr>
        <p:txBody>
          <a:bodyPr wrap="square" lIns="0" tIns="0" rIns="0" bIns="0" rtlCol="0" anchor="t"/>
          <a:lstStyle/>
          <a:p>
            <a:pPr algn="ctr" indent="0" marL="0">
              <a:buNone/>
            </a:pPr>
            <a:r>
              <a:rPr lang="en-US" sz="1350" dirty="0">
                <a:solidFill>
                  <a:srgbClr val="5E6B63"/>
                </a:solidFill>
              </a:rPr>
              <a:t>Collects money from many victims, often rented or opened with stolen NIDs</a:t>
            </a:r>
            <a:endParaRPr lang="en-US" sz="1350" dirty="0"/>
          </a:p>
        </p:txBody>
      </p:sp>
      <p:sp>
        <p:nvSpPr>
          <p:cNvPr id="23" name="Arrow"/>
          <p:cNvSpPr/>
          <p:nvPr/>
        </p:nvSpPr>
        <p:spPr>
          <a:xfrm>
            <a:off x="8869680" y="3172968"/>
            <a:ext cx="274320" cy="0"/>
          </a:xfrm>
          <a:prstGeom prst="line">
            <a:avLst/>
          </a:prstGeom>
          <a:noFill/>
          <a:ln w="31750">
            <a:solidFill>
              <a:srgbClr val="3E7C64"/>
            </a:solidFill>
            <a:prstDash val="solid"/>
            <a:tailEnd type="triangle"/>
          </a:ln>
        </p:spPr>
      </p:sp>
      <p:sp>
        <p:nvSpPr>
          <p:cNvPr id="24" name="Card"/>
          <p:cNvSpPr/>
          <p:nvPr/>
        </p:nvSpPr>
        <p:spPr>
          <a:xfrm>
            <a:off x="9189720" y="1874520"/>
            <a:ext cx="2514600" cy="2606040"/>
          </a:xfrm>
          <a:prstGeom prst="roundRect">
            <a:avLst>
              <a:gd name="adj" fmla="val 5091"/>
            </a:avLst>
          </a:prstGeom>
          <a:solidFill>
            <a:schemeClr val="bg2"/>
          </a:solidFill>
          <a:ln/>
        </p:spPr>
      </p:sp>
      <p:sp>
        <p:nvSpPr>
          <p:cNvPr id="25" name="Icon circle"/>
          <p:cNvSpPr/>
          <p:nvPr/>
        </p:nvSpPr>
        <p:spPr>
          <a:xfrm>
            <a:off x="10058400" y="2103120"/>
            <a:ext cx="777240" cy="777240"/>
          </a:xfrm>
          <a:prstGeom prst="ellipse">
            <a:avLst/>
          </a:prstGeom>
          <a:solidFill>
            <a:srgbClr val="16231C"/>
          </a:solidFill>
          <a:ln/>
        </p:spPr>
      </p:sp>
      <p:pic>
        <p:nvPicPr>
          <p:cNvPr id="26" name="Icon FaMoneyBillWave" descr="preencoded.png">    </p:cNvPr>
          <p:cNvPicPr>
            <a:picLocks noChangeAspect="1"/>
          </p:cNvPicPr>
          <p:nvPr/>
        </p:nvPicPr>
        <p:blipFill>
          <a:blip r:embed="rId4"/>
          <a:stretch>
            <a:fillRect/>
          </a:stretch>
        </p:blipFill>
        <p:spPr>
          <a:xfrm>
            <a:off x="10252710" y="2297430"/>
            <a:ext cx="388620" cy="388620"/>
          </a:xfrm>
          <a:prstGeom prst="rect">
            <a:avLst/>
          </a:prstGeom>
        </p:spPr>
      </p:pic>
      <p:sp>
        <p:nvSpPr>
          <p:cNvPr id="27" name="Text 20"/>
          <p:cNvSpPr txBox="1"/>
          <p:nvPr/>
        </p:nvSpPr>
        <p:spPr>
          <a:xfrm>
            <a:off x="9372600" y="3017520"/>
            <a:ext cx="2148840" cy="365760"/>
          </a:xfrm>
          <a:prstGeom prst="rect">
            <a:avLst/>
          </a:prstGeom>
          <a:noFill/>
          <a:ln/>
        </p:spPr>
        <p:txBody>
          <a:bodyPr wrap="square" lIns="0" tIns="0" rIns="0" bIns="0" rtlCol="0" anchor="t"/>
          <a:lstStyle/>
          <a:p>
            <a:pPr algn="ctr" indent="0" marL="0">
              <a:buNone/>
            </a:pPr>
            <a:r>
              <a:rPr lang="en-US" sz="1800" b="1" dirty="0">
                <a:solidFill>
                  <a:schemeClr val="tx2"/>
                </a:solidFill>
              </a:rPr>
              <a:t>Agent cash-out</a:t>
            </a:r>
            <a:endParaRPr lang="en-US" sz="1800" dirty="0"/>
          </a:p>
        </p:txBody>
      </p:sp>
      <p:sp>
        <p:nvSpPr>
          <p:cNvPr id="28" name="Text 21"/>
          <p:cNvSpPr txBox="1"/>
          <p:nvPr/>
        </p:nvSpPr>
        <p:spPr>
          <a:xfrm>
            <a:off x="9372600" y="3429000"/>
            <a:ext cx="2148840" cy="960120"/>
          </a:xfrm>
          <a:prstGeom prst="rect">
            <a:avLst/>
          </a:prstGeom>
          <a:noFill/>
          <a:ln/>
        </p:spPr>
        <p:txBody>
          <a:bodyPr wrap="square" lIns="0" tIns="0" rIns="0" bIns="0" rtlCol="0" anchor="t"/>
          <a:lstStyle/>
          <a:p>
            <a:pPr algn="ctr" indent="0" marL="0">
              <a:buNone/>
            </a:pPr>
            <a:r>
              <a:rPr lang="en-US" sz="1350" dirty="0">
                <a:solidFill>
                  <a:srgbClr val="5E6B63"/>
                </a:solidFill>
              </a:rPr>
              <a:t>Money hops once or twice, then leaves as cash within minutes</a:t>
            </a:r>
            <a:endParaRPr lang="en-US" sz="1350" dirty="0"/>
          </a:p>
        </p:txBody>
      </p:sp>
      <p:sp>
        <p:nvSpPr>
          <p:cNvPr id="29" name="Card"/>
          <p:cNvSpPr/>
          <p:nvPr/>
        </p:nvSpPr>
        <p:spPr>
          <a:xfrm>
            <a:off x="548640" y="4800600"/>
            <a:ext cx="11064240" cy="1280160"/>
          </a:xfrm>
          <a:prstGeom prst="roundRect">
            <a:avLst>
              <a:gd name="adj" fmla="val 10000"/>
            </a:avLst>
          </a:prstGeom>
          <a:solidFill>
            <a:schemeClr val="tx2"/>
          </a:solidFill>
          <a:ln/>
        </p:spPr>
      </p:sp>
      <p:sp>
        <p:nvSpPr>
          <p:cNvPr id="30" name="Icon circle"/>
          <p:cNvSpPr/>
          <p:nvPr/>
        </p:nvSpPr>
        <p:spPr>
          <a:xfrm>
            <a:off x="822960" y="5047488"/>
            <a:ext cx="777240" cy="777240"/>
          </a:xfrm>
          <a:prstGeom prst="ellipse">
            <a:avLst/>
          </a:prstGeom>
          <a:solidFill>
            <a:srgbClr val="FFD600"/>
          </a:solidFill>
          <a:ln/>
        </p:spPr>
      </p:sp>
      <p:pic>
        <p:nvPicPr>
          <p:cNvPr id="31" name="Icon FaTriangleExclamation" descr="preencoded.png">    </p:cNvPr>
          <p:cNvPicPr>
            <a:picLocks noChangeAspect="1"/>
          </p:cNvPicPr>
          <p:nvPr/>
        </p:nvPicPr>
        <p:blipFill>
          <a:blip r:embed="rId5"/>
          <a:stretch>
            <a:fillRect/>
          </a:stretch>
        </p:blipFill>
        <p:spPr>
          <a:xfrm>
            <a:off x="1017270" y="5241798"/>
            <a:ext cx="388620" cy="388620"/>
          </a:xfrm>
          <a:prstGeom prst="rect">
            <a:avLst/>
          </a:prstGeom>
        </p:spPr>
      </p:pic>
      <p:sp>
        <p:nvSpPr>
          <p:cNvPr id="32" name="Text 24"/>
          <p:cNvSpPr txBox="1"/>
          <p:nvPr/>
        </p:nvSpPr>
        <p:spPr>
          <a:xfrm>
            <a:off x="1828800" y="4937760"/>
            <a:ext cx="9509760" cy="1005840"/>
          </a:xfrm>
          <a:prstGeom prst="rect">
            <a:avLst/>
          </a:prstGeom>
          <a:noFill/>
          <a:ln/>
        </p:spPr>
        <p:txBody>
          <a:bodyPr wrap="square" lIns="0" tIns="0" rIns="0" bIns="0" rtlCol="0" anchor="ctr"/>
          <a:lstStyle/>
          <a:p>
            <a:pPr indent="0" marL="0">
              <a:buNone/>
            </a:pPr>
            <a:r>
              <a:rPr lang="en-US" sz="1800" b="1" dirty="0">
                <a:solidFill>
                  <a:schemeClr val="accent2"/>
                </a:solidFill>
              </a:rPr>
              <a:t>Why it is hard: </a:t>
            </a:r>
            <a:pPr indent="0" marL="0">
              <a:buNone/>
            </a:pPr>
            <a:r>
              <a:rPr lang="en-US" sz="1800" dirty="0">
                <a:solidFill>
                  <a:schemeClr val="bg1"/>
                </a:solidFill>
              </a:rPr>
              <a:t>the fraud signal is not on the sender. It is on the receiving wallet and its network, and the window to act is the few seconds before the money moves.</a:t>
            </a:r>
            <a:endParaRPr lang="en-US" sz="180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p:nvPr/>
        </p:nvSpPr>
        <p:spPr>
          <a:xfrm>
            <a:off x="548640" y="347472"/>
            <a:ext cx="1257300" cy="292608"/>
          </a:xfrm>
          <a:prstGeom prst="roundRect">
            <a:avLst>
              <a:gd name="adj" fmla="val 50000"/>
            </a:avLst>
          </a:prstGeom>
          <a:solidFill>
            <a:schemeClr val="accent2"/>
          </a:solidFill>
          <a:ln/>
        </p:spPr>
      </p:sp>
      <p:sp>
        <p:nvSpPr>
          <p:cNvPr id="3" name="Kicker text"/>
          <p:cNvSpPr txBox="1"/>
          <p:nvPr/>
        </p:nvSpPr>
        <p:spPr>
          <a:xfrm>
            <a:off x="548640" y="347472"/>
            <a:ext cx="1257300" cy="292608"/>
          </a:xfrm>
          <a:prstGeom prst="rect">
            <a:avLst/>
          </a:prstGeom>
          <a:noFill/>
          <a:ln/>
        </p:spPr>
        <p:txBody>
          <a:bodyPr wrap="square" lIns="0" tIns="0" rIns="0" bIns="0" rtlCol="0" anchor="ctr"/>
          <a:lstStyle/>
          <a:p>
            <a:pPr algn="ctr" indent="0" marL="0">
              <a:buNone/>
            </a:pPr>
            <a:r>
              <a:rPr lang="en-US" sz="1050" b="1" spc="150" kern="0" dirty="0">
                <a:solidFill>
                  <a:schemeClr val="tx2"/>
                </a:solidFill>
              </a:rPr>
              <a:t>THE PROBLEM</a:t>
            </a:r>
            <a:endParaRPr lang="en-US" sz="1050" dirty="0"/>
          </a:p>
        </p:txBody>
      </p:sp>
      <p:sp>
        <p:nvSpPr>
          <p:cNvPr id="4" name="Text 1"/>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Why today’s defences fall short</a:t>
            </a:r>
            <a:endParaRPr lang="en-US" sz="3200" dirty="0"/>
          </a:p>
        </p:txBody>
      </p:sp>
      <p:sp>
        <p:nvSpPr>
          <p:cNvPr id="6" name="Card"/>
          <p:cNvSpPr/>
          <p:nvPr/>
        </p:nvSpPr>
        <p:spPr>
          <a:xfrm>
            <a:off x="548640" y="1783080"/>
            <a:ext cx="4023360" cy="4297680"/>
          </a:xfrm>
          <a:prstGeom prst="roundRect">
            <a:avLst>
              <a:gd name="adj" fmla="val 3182"/>
            </a:avLst>
          </a:prstGeom>
          <a:solidFill>
            <a:schemeClr val="tx2"/>
          </a:solidFill>
          <a:ln/>
          <a:effectLst>
            <a:outerShdw sx="100000" sy="100000" kx="0" ky="0" algn="bl" rotWithShape="0" blurRad="127000" dist="38100" dir="5400000">
              <a:srgbClr val="16231C">
                <a:alpha val="14000"/>
              </a:srgbClr>
            </a:outerShdw>
          </a:effectLst>
        </p:spPr>
      </p:sp>
      <p:sp>
        <p:nvSpPr>
          <p:cNvPr id="7" name="Text 4"/>
          <p:cNvSpPr txBox="1"/>
          <p:nvPr/>
        </p:nvSpPr>
        <p:spPr>
          <a:xfrm>
            <a:off x="868680" y="2011680"/>
            <a:ext cx="3474720" cy="365760"/>
          </a:xfrm>
          <a:prstGeom prst="rect">
            <a:avLst/>
          </a:prstGeom>
          <a:noFill/>
          <a:ln/>
        </p:spPr>
        <p:txBody>
          <a:bodyPr wrap="square" lIns="0" tIns="0" rIns="0" bIns="0" rtlCol="0" anchor="t"/>
          <a:lstStyle/>
          <a:p>
            <a:pPr indent="0" marL="0">
              <a:buNone/>
            </a:pPr>
            <a:r>
              <a:rPr lang="en-US" sz="1600" b="1" dirty="0">
                <a:solidFill>
                  <a:srgbClr val="BAC7BC"/>
                </a:solidFill>
              </a:rPr>
              <a:t>Hand-written rules</a:t>
            </a:r>
            <a:endParaRPr lang="en-US" sz="1600" dirty="0"/>
          </a:p>
        </p:txBody>
      </p:sp>
      <p:sp>
        <p:nvSpPr>
          <p:cNvPr id="8" name="Text 5"/>
          <p:cNvSpPr txBox="1"/>
          <p:nvPr/>
        </p:nvSpPr>
        <p:spPr>
          <a:xfrm>
            <a:off x="868680" y="2423160"/>
            <a:ext cx="3474720" cy="1005840"/>
          </a:xfrm>
          <a:prstGeom prst="rect">
            <a:avLst/>
          </a:prstGeom>
          <a:noFill/>
          <a:ln/>
        </p:spPr>
        <p:txBody>
          <a:bodyPr wrap="square" lIns="0" tIns="0" rIns="0" bIns="0" rtlCol="0" anchor="t"/>
          <a:lstStyle/>
          <a:p>
            <a:pPr indent="0" marL="0">
              <a:buNone/>
            </a:pPr>
            <a:r>
              <a:rPr lang="en-US" sz="6400" b="1" dirty="0">
                <a:solidFill>
                  <a:schemeClr val="accent2"/>
                </a:solidFill>
              </a:rPr>
              <a:t>1 in 8</a:t>
            </a:r>
            <a:endParaRPr lang="en-US" sz="6400" dirty="0"/>
          </a:p>
        </p:txBody>
      </p:sp>
      <p:sp>
        <p:nvSpPr>
          <p:cNvPr id="9" name="Text 6"/>
          <p:cNvSpPr txBox="1"/>
          <p:nvPr/>
        </p:nvSpPr>
        <p:spPr>
          <a:xfrm>
            <a:off x="868680" y="3429000"/>
            <a:ext cx="3474720" cy="365760"/>
          </a:xfrm>
          <a:prstGeom prst="rect">
            <a:avLst/>
          </a:prstGeom>
          <a:noFill/>
          <a:ln/>
        </p:spPr>
        <p:txBody>
          <a:bodyPr wrap="square" lIns="0" tIns="0" rIns="0" bIns="0" rtlCol="0" anchor="t"/>
          <a:lstStyle/>
          <a:p>
            <a:pPr indent="0" marL="0">
              <a:buNone/>
            </a:pPr>
            <a:r>
              <a:rPr lang="en-US" sz="1600" dirty="0">
                <a:solidFill>
                  <a:schemeClr val="bg1"/>
                </a:solidFill>
              </a:rPr>
              <a:t>alerts are right</a:t>
            </a:r>
            <a:endParaRPr lang="en-US" sz="1600" dirty="0"/>
          </a:p>
        </p:txBody>
      </p:sp>
      <p:sp>
        <p:nvSpPr>
          <p:cNvPr id="10" name="Shape 7"/>
          <p:cNvSpPr/>
          <p:nvPr/>
        </p:nvSpPr>
        <p:spPr>
          <a:xfrm>
            <a:off x="868680" y="4023360"/>
            <a:ext cx="3383280" cy="0"/>
          </a:xfrm>
          <a:prstGeom prst="line">
            <a:avLst/>
          </a:prstGeom>
          <a:noFill/>
          <a:ln w="12700">
            <a:solidFill>
              <a:srgbClr val="3F5A49"/>
            </a:solidFill>
            <a:prstDash val="solid"/>
          </a:ln>
        </p:spPr>
      </p:sp>
      <p:sp>
        <p:nvSpPr>
          <p:cNvPr id="11" name="Text 8"/>
          <p:cNvSpPr txBox="1"/>
          <p:nvPr/>
        </p:nvSpPr>
        <p:spPr>
          <a:xfrm>
            <a:off x="868680" y="4206240"/>
            <a:ext cx="3474720" cy="365760"/>
          </a:xfrm>
          <a:prstGeom prst="rect">
            <a:avLst/>
          </a:prstGeom>
          <a:noFill/>
          <a:ln/>
        </p:spPr>
        <p:txBody>
          <a:bodyPr wrap="square" lIns="0" tIns="0" rIns="0" bIns="0" rtlCol="0" anchor="t"/>
          <a:lstStyle/>
          <a:p>
            <a:pPr indent="0" marL="0">
              <a:buNone/>
            </a:pPr>
            <a:r>
              <a:rPr lang="en-US" sz="1600" b="1" dirty="0">
                <a:solidFill>
                  <a:srgbClr val="BAC7BC"/>
                </a:solidFill>
              </a:rPr>
              <a:t>FraudLens, same alert budget</a:t>
            </a:r>
            <a:endParaRPr lang="en-US" sz="1600" dirty="0"/>
          </a:p>
        </p:txBody>
      </p:sp>
      <p:sp>
        <p:nvSpPr>
          <p:cNvPr id="12" name="Text 9"/>
          <p:cNvSpPr txBox="1"/>
          <p:nvPr/>
        </p:nvSpPr>
        <p:spPr>
          <a:xfrm>
            <a:off x="868680" y="4572000"/>
            <a:ext cx="3474720" cy="914400"/>
          </a:xfrm>
          <a:prstGeom prst="rect">
            <a:avLst/>
          </a:prstGeom>
          <a:noFill/>
          <a:ln/>
        </p:spPr>
        <p:txBody>
          <a:bodyPr wrap="square" lIns="0" tIns="0" rIns="0" bIns="0" rtlCol="0" anchor="t"/>
          <a:lstStyle/>
          <a:p>
            <a:pPr indent="0" marL="0">
              <a:buNone/>
            </a:pPr>
            <a:r>
              <a:rPr lang="en-US" sz="5400" b="1" dirty="0">
                <a:solidFill>
                  <a:schemeClr val="bg1"/>
                </a:solidFill>
              </a:rPr>
              <a:t>8 in 10</a:t>
            </a:r>
            <a:endParaRPr lang="en-US" sz="5400" dirty="0"/>
          </a:p>
        </p:txBody>
      </p:sp>
      <p:sp>
        <p:nvSpPr>
          <p:cNvPr id="13" name="Text 10"/>
          <p:cNvSpPr txBox="1"/>
          <p:nvPr/>
        </p:nvSpPr>
        <p:spPr>
          <a:xfrm>
            <a:off x="868680" y="5440680"/>
            <a:ext cx="3474720" cy="365760"/>
          </a:xfrm>
          <a:prstGeom prst="rect">
            <a:avLst/>
          </a:prstGeom>
          <a:noFill/>
          <a:ln/>
        </p:spPr>
        <p:txBody>
          <a:bodyPr wrap="square" lIns="0" tIns="0" rIns="0" bIns="0" rtlCol="0" anchor="t"/>
          <a:lstStyle/>
          <a:p>
            <a:pPr indent="0" marL="0">
              <a:buNone/>
            </a:pPr>
            <a:r>
              <a:rPr lang="en-US" sz="1300" dirty="0">
                <a:solidFill>
                  <a:srgbClr val="BAC7BC"/>
                </a:solidFill>
              </a:rPr>
              <a:t>PR-AUC 0.076 → 0.834</a:t>
            </a:r>
            <a:endParaRPr lang="en-US" sz="1300" dirty="0"/>
          </a:p>
        </p:txBody>
      </p:sp>
      <p:sp>
        <p:nvSpPr>
          <p:cNvPr id="14" name="Icon circle"/>
          <p:cNvSpPr/>
          <p:nvPr/>
        </p:nvSpPr>
        <p:spPr>
          <a:xfrm>
            <a:off x="4983480" y="1874520"/>
            <a:ext cx="548640" cy="548640"/>
          </a:xfrm>
          <a:prstGeom prst="ellipse">
            <a:avLst/>
          </a:prstGeom>
          <a:solidFill>
            <a:srgbClr val="FDE3E4"/>
          </a:solidFill>
          <a:ln/>
        </p:spPr>
      </p:sp>
      <p:pic>
        <p:nvPicPr>
          <p:cNvPr id="15" name="Icon FaXmark" descr="preencoded.png">    </p:cNvPr>
          <p:cNvPicPr>
            <a:picLocks noChangeAspect="1"/>
          </p:cNvPicPr>
          <p:nvPr/>
        </p:nvPicPr>
        <p:blipFill>
          <a:blip r:embed="rId1"/>
          <a:stretch>
            <a:fillRect/>
          </a:stretch>
        </p:blipFill>
        <p:spPr>
          <a:xfrm>
            <a:off x="5120640" y="2011680"/>
            <a:ext cx="274320" cy="274320"/>
          </a:xfrm>
          <a:prstGeom prst="rect">
            <a:avLst/>
          </a:prstGeom>
        </p:spPr>
      </p:pic>
      <p:sp>
        <p:nvSpPr>
          <p:cNvPr id="16" name="Text 12"/>
          <p:cNvSpPr txBox="1"/>
          <p:nvPr/>
        </p:nvSpPr>
        <p:spPr>
          <a:xfrm>
            <a:off x="5760720" y="1801368"/>
            <a:ext cx="5852160" cy="365760"/>
          </a:xfrm>
          <a:prstGeom prst="rect">
            <a:avLst/>
          </a:prstGeom>
          <a:noFill/>
          <a:ln/>
        </p:spPr>
        <p:txBody>
          <a:bodyPr wrap="square" lIns="0" tIns="0" rIns="0" bIns="0" rtlCol="0" anchor="t"/>
          <a:lstStyle/>
          <a:p>
            <a:pPr indent="0" marL="0">
              <a:buNone/>
            </a:pPr>
            <a:r>
              <a:rPr lang="en-US" sz="1800" b="1" dirty="0">
                <a:solidFill>
                  <a:schemeClr val="tx2"/>
                </a:solidFill>
              </a:rPr>
              <a:t>Only the sender is checked</a:t>
            </a:r>
            <a:endParaRPr lang="en-US" sz="1800" dirty="0"/>
          </a:p>
        </p:txBody>
      </p:sp>
      <p:sp>
        <p:nvSpPr>
          <p:cNvPr id="17" name="Text 13"/>
          <p:cNvSpPr txBox="1"/>
          <p:nvPr/>
        </p:nvSpPr>
        <p:spPr>
          <a:xfrm>
            <a:off x="5760720" y="2167128"/>
            <a:ext cx="5852160" cy="365760"/>
          </a:xfrm>
          <a:prstGeom prst="rect">
            <a:avLst/>
          </a:prstGeom>
          <a:noFill/>
          <a:ln/>
        </p:spPr>
        <p:txBody>
          <a:bodyPr wrap="square" lIns="0" tIns="0" rIns="0" bIns="0" rtlCol="0" anchor="t"/>
          <a:lstStyle/>
          <a:p>
            <a:pPr indent="0" marL="0">
              <a:buNone/>
            </a:pPr>
            <a:r>
              <a:rPr lang="en-US" sz="1400" dirty="0">
                <a:solidFill>
                  <a:srgbClr val="5E6B63"/>
                </a:solidFill>
              </a:rPr>
              <a:t>The victim is genuine, so sender checks see a normal payment</a:t>
            </a:r>
            <a:endParaRPr lang="en-US" sz="1400" dirty="0"/>
          </a:p>
        </p:txBody>
      </p:sp>
      <p:sp>
        <p:nvSpPr>
          <p:cNvPr id="18" name="Icon circle"/>
          <p:cNvSpPr/>
          <p:nvPr/>
        </p:nvSpPr>
        <p:spPr>
          <a:xfrm>
            <a:off x="4983480" y="2743200"/>
            <a:ext cx="548640" cy="548640"/>
          </a:xfrm>
          <a:prstGeom prst="ellipse">
            <a:avLst/>
          </a:prstGeom>
          <a:solidFill>
            <a:srgbClr val="FDE3E4"/>
          </a:solidFill>
          <a:ln/>
        </p:spPr>
      </p:sp>
      <p:pic>
        <p:nvPicPr>
          <p:cNvPr id="19" name="Icon FaXmark" descr="preencoded.png">    </p:cNvPr>
          <p:cNvPicPr>
            <a:picLocks noChangeAspect="1"/>
          </p:cNvPicPr>
          <p:nvPr/>
        </p:nvPicPr>
        <p:blipFill>
          <a:blip r:embed="rId2"/>
          <a:stretch>
            <a:fillRect/>
          </a:stretch>
        </p:blipFill>
        <p:spPr>
          <a:xfrm>
            <a:off x="5120640" y="2880360"/>
            <a:ext cx="274320" cy="274320"/>
          </a:xfrm>
          <a:prstGeom prst="rect">
            <a:avLst/>
          </a:prstGeom>
        </p:spPr>
      </p:pic>
      <p:sp>
        <p:nvSpPr>
          <p:cNvPr id="20" name="Text 15"/>
          <p:cNvSpPr txBox="1"/>
          <p:nvPr/>
        </p:nvSpPr>
        <p:spPr>
          <a:xfrm>
            <a:off x="5760720" y="2670048"/>
            <a:ext cx="5852160" cy="365760"/>
          </a:xfrm>
          <a:prstGeom prst="rect">
            <a:avLst/>
          </a:prstGeom>
          <a:noFill/>
          <a:ln/>
        </p:spPr>
        <p:txBody>
          <a:bodyPr wrap="square" lIns="0" tIns="0" rIns="0" bIns="0" rtlCol="0" anchor="t"/>
          <a:lstStyle/>
          <a:p>
            <a:pPr indent="0" marL="0">
              <a:buNone/>
            </a:pPr>
            <a:r>
              <a:rPr lang="en-US" sz="1800" b="1" dirty="0">
                <a:solidFill>
                  <a:schemeClr val="tx2"/>
                </a:solidFill>
              </a:rPr>
              <a:t>Blocking is too late and too blunt</a:t>
            </a:r>
            <a:endParaRPr lang="en-US" sz="1800" dirty="0"/>
          </a:p>
        </p:txBody>
      </p:sp>
      <p:sp>
        <p:nvSpPr>
          <p:cNvPr id="21" name="Text 16"/>
          <p:cNvSpPr txBox="1"/>
          <p:nvPr/>
        </p:nvSpPr>
        <p:spPr>
          <a:xfrm>
            <a:off x="5760720" y="3035808"/>
            <a:ext cx="5852160" cy="365760"/>
          </a:xfrm>
          <a:prstGeom prst="rect">
            <a:avLst/>
          </a:prstGeom>
          <a:noFill/>
          <a:ln/>
        </p:spPr>
        <p:txBody>
          <a:bodyPr wrap="square" lIns="0" tIns="0" rIns="0" bIns="0" rtlCol="0" anchor="t"/>
          <a:lstStyle/>
          <a:p>
            <a:pPr indent="0" marL="0">
              <a:buNone/>
            </a:pPr>
            <a:r>
              <a:rPr lang="en-US" sz="1400" dirty="0">
                <a:solidFill>
                  <a:srgbClr val="5E6B63"/>
                </a:solidFill>
              </a:rPr>
              <a:t>Honest customers get frozen; scammed customers get no warning</a:t>
            </a:r>
            <a:endParaRPr lang="en-US" sz="1400" dirty="0"/>
          </a:p>
        </p:txBody>
      </p:sp>
      <p:sp>
        <p:nvSpPr>
          <p:cNvPr id="22" name="Icon circle"/>
          <p:cNvSpPr/>
          <p:nvPr/>
        </p:nvSpPr>
        <p:spPr>
          <a:xfrm>
            <a:off x="4983480" y="3611880"/>
            <a:ext cx="548640" cy="548640"/>
          </a:xfrm>
          <a:prstGeom prst="ellipse">
            <a:avLst/>
          </a:prstGeom>
          <a:solidFill>
            <a:srgbClr val="FDE3E4"/>
          </a:solidFill>
          <a:ln/>
        </p:spPr>
      </p:sp>
      <p:pic>
        <p:nvPicPr>
          <p:cNvPr id="23" name="Icon FaXmark" descr="preencoded.png">    </p:cNvPr>
          <p:cNvPicPr>
            <a:picLocks noChangeAspect="1"/>
          </p:cNvPicPr>
          <p:nvPr/>
        </p:nvPicPr>
        <p:blipFill>
          <a:blip r:embed="rId3"/>
          <a:stretch>
            <a:fillRect/>
          </a:stretch>
        </p:blipFill>
        <p:spPr>
          <a:xfrm>
            <a:off x="5120640" y="3749040"/>
            <a:ext cx="274320" cy="274320"/>
          </a:xfrm>
          <a:prstGeom prst="rect">
            <a:avLst/>
          </a:prstGeom>
        </p:spPr>
      </p:pic>
      <p:sp>
        <p:nvSpPr>
          <p:cNvPr id="24" name="Text 18"/>
          <p:cNvSpPr txBox="1"/>
          <p:nvPr/>
        </p:nvSpPr>
        <p:spPr>
          <a:xfrm>
            <a:off x="5760720" y="3538728"/>
            <a:ext cx="5852160" cy="365760"/>
          </a:xfrm>
          <a:prstGeom prst="rect">
            <a:avLst/>
          </a:prstGeom>
          <a:noFill/>
          <a:ln/>
        </p:spPr>
        <p:txBody>
          <a:bodyPr wrap="square" lIns="0" tIns="0" rIns="0" bIns="0" rtlCol="0" anchor="t"/>
          <a:lstStyle/>
          <a:p>
            <a:pPr indent="0" marL="0">
              <a:buNone/>
            </a:pPr>
            <a:r>
              <a:rPr lang="en-US" sz="1800" b="1" dirty="0">
                <a:solidFill>
                  <a:schemeClr val="tx2"/>
                </a:solidFill>
              </a:rPr>
              <a:t>Warnings in English</a:t>
            </a:r>
            <a:endParaRPr lang="en-US" sz="1800" dirty="0"/>
          </a:p>
        </p:txBody>
      </p:sp>
      <p:sp>
        <p:nvSpPr>
          <p:cNvPr id="25" name="Text 19"/>
          <p:cNvSpPr txBox="1"/>
          <p:nvPr/>
        </p:nvSpPr>
        <p:spPr>
          <a:xfrm>
            <a:off x="5760720" y="3904488"/>
            <a:ext cx="5852160" cy="365760"/>
          </a:xfrm>
          <a:prstGeom prst="rect">
            <a:avLst/>
          </a:prstGeom>
          <a:noFill/>
          <a:ln/>
        </p:spPr>
        <p:txBody>
          <a:bodyPr wrap="square" lIns="0" tIns="0" rIns="0" bIns="0" rtlCol="0" anchor="t"/>
          <a:lstStyle/>
          <a:p>
            <a:pPr indent="0" marL="0">
              <a:buNone/>
            </a:pPr>
            <a:r>
              <a:rPr lang="en-US" sz="1400" dirty="0">
                <a:solidFill>
                  <a:srgbClr val="5E6B63"/>
                </a:solidFill>
              </a:rPr>
              <a:t>Customers don't read them at the moment it matters</a:t>
            </a:r>
            <a:endParaRPr lang="en-US" sz="1400" dirty="0"/>
          </a:p>
        </p:txBody>
      </p:sp>
      <p:sp>
        <p:nvSpPr>
          <p:cNvPr id="26" name="Icon circle"/>
          <p:cNvSpPr/>
          <p:nvPr/>
        </p:nvSpPr>
        <p:spPr>
          <a:xfrm>
            <a:off x="4983480" y="4480560"/>
            <a:ext cx="548640" cy="548640"/>
          </a:xfrm>
          <a:prstGeom prst="ellipse">
            <a:avLst/>
          </a:prstGeom>
          <a:solidFill>
            <a:srgbClr val="FDE3E4"/>
          </a:solidFill>
          <a:ln/>
        </p:spPr>
      </p:sp>
      <p:pic>
        <p:nvPicPr>
          <p:cNvPr id="27" name="Icon FaXmark" descr="preencoded.png">    </p:cNvPr>
          <p:cNvPicPr>
            <a:picLocks noChangeAspect="1"/>
          </p:cNvPicPr>
          <p:nvPr/>
        </p:nvPicPr>
        <p:blipFill>
          <a:blip r:embed="rId4"/>
          <a:stretch>
            <a:fillRect/>
          </a:stretch>
        </p:blipFill>
        <p:spPr>
          <a:xfrm>
            <a:off x="5120640" y="4617720"/>
            <a:ext cx="274320" cy="274320"/>
          </a:xfrm>
          <a:prstGeom prst="rect">
            <a:avLst/>
          </a:prstGeom>
        </p:spPr>
      </p:pic>
      <p:sp>
        <p:nvSpPr>
          <p:cNvPr id="28" name="Text 21"/>
          <p:cNvSpPr txBox="1"/>
          <p:nvPr/>
        </p:nvSpPr>
        <p:spPr>
          <a:xfrm>
            <a:off x="5760720" y="4407408"/>
            <a:ext cx="5852160" cy="365760"/>
          </a:xfrm>
          <a:prstGeom prst="rect">
            <a:avLst/>
          </a:prstGeom>
          <a:noFill/>
          <a:ln/>
        </p:spPr>
        <p:txBody>
          <a:bodyPr wrap="square" lIns="0" tIns="0" rIns="0" bIns="0" rtlCol="0" anchor="t"/>
          <a:lstStyle/>
          <a:p>
            <a:pPr indent="0" marL="0">
              <a:buNone/>
            </a:pPr>
            <a:r>
              <a:rPr lang="en-US" sz="1800" b="1" dirty="0">
                <a:solidFill>
                  <a:schemeClr val="tx2"/>
                </a:solidFill>
              </a:rPr>
              <a:t>“The model said so”</a:t>
            </a:r>
            <a:endParaRPr lang="en-US" sz="1800" dirty="0"/>
          </a:p>
        </p:txBody>
      </p:sp>
      <p:sp>
        <p:nvSpPr>
          <p:cNvPr id="29" name="Text 22"/>
          <p:cNvSpPr txBox="1"/>
          <p:nvPr/>
        </p:nvSpPr>
        <p:spPr>
          <a:xfrm>
            <a:off x="5760720" y="4773168"/>
            <a:ext cx="5852160" cy="365760"/>
          </a:xfrm>
          <a:prstGeom prst="rect">
            <a:avLst/>
          </a:prstGeom>
          <a:noFill/>
          <a:ln/>
        </p:spPr>
        <p:txBody>
          <a:bodyPr wrap="square" lIns="0" tIns="0" rIns="0" bIns="0" rtlCol="0" anchor="t"/>
          <a:lstStyle/>
          <a:p>
            <a:pPr indent="0" marL="0">
              <a:buNone/>
            </a:pPr>
            <a:r>
              <a:rPr lang="en-US" sz="1400" dirty="0">
                <a:solidFill>
                  <a:srgbClr val="5E6B63"/>
                </a:solidFill>
              </a:rPr>
              <a:t>Analysts and regulators cannot check a black box</a:t>
            </a:r>
            <a:endParaRPr lang="en-US" sz="1400" dirty="0"/>
          </a:p>
        </p:txBody>
      </p:sp>
      <p:sp>
        <p:nvSpPr>
          <p:cNvPr id="30" name="Icon circle"/>
          <p:cNvSpPr/>
          <p:nvPr/>
        </p:nvSpPr>
        <p:spPr>
          <a:xfrm>
            <a:off x="4983480" y="5349240"/>
            <a:ext cx="548640" cy="548640"/>
          </a:xfrm>
          <a:prstGeom prst="ellipse">
            <a:avLst/>
          </a:prstGeom>
          <a:solidFill>
            <a:srgbClr val="FDE3E4"/>
          </a:solidFill>
          <a:ln/>
        </p:spPr>
      </p:sp>
      <p:pic>
        <p:nvPicPr>
          <p:cNvPr id="31" name="Icon FaXmark" descr="preencoded.png">    </p:cNvPr>
          <p:cNvPicPr>
            <a:picLocks noChangeAspect="1"/>
          </p:cNvPicPr>
          <p:nvPr/>
        </p:nvPicPr>
        <p:blipFill>
          <a:blip r:embed="rId5"/>
          <a:stretch>
            <a:fillRect/>
          </a:stretch>
        </p:blipFill>
        <p:spPr>
          <a:xfrm>
            <a:off x="5120640" y="5486400"/>
            <a:ext cx="274320" cy="274320"/>
          </a:xfrm>
          <a:prstGeom prst="rect">
            <a:avLst/>
          </a:prstGeom>
        </p:spPr>
      </p:pic>
      <p:sp>
        <p:nvSpPr>
          <p:cNvPr id="32" name="Text 24"/>
          <p:cNvSpPr txBox="1"/>
          <p:nvPr/>
        </p:nvSpPr>
        <p:spPr>
          <a:xfrm>
            <a:off x="5760720" y="5276088"/>
            <a:ext cx="5852160" cy="365760"/>
          </a:xfrm>
          <a:prstGeom prst="rect">
            <a:avLst/>
          </a:prstGeom>
          <a:noFill/>
          <a:ln/>
        </p:spPr>
        <p:txBody>
          <a:bodyPr wrap="square" lIns="0" tIns="0" rIns="0" bIns="0" rtlCol="0" anchor="t"/>
          <a:lstStyle/>
          <a:p>
            <a:pPr indent="0" marL="0">
              <a:buNone/>
            </a:pPr>
            <a:r>
              <a:rPr lang="en-US" sz="1800" b="1" dirty="0">
                <a:solidFill>
                  <a:schemeClr val="tx2"/>
                </a:solidFill>
              </a:rPr>
              <a:t>Rules go stale</a:t>
            </a:r>
            <a:endParaRPr lang="en-US" sz="1800" dirty="0"/>
          </a:p>
        </p:txBody>
      </p:sp>
      <p:sp>
        <p:nvSpPr>
          <p:cNvPr id="33" name="Text 25"/>
          <p:cNvSpPr txBox="1"/>
          <p:nvPr/>
        </p:nvSpPr>
        <p:spPr>
          <a:xfrm>
            <a:off x="5760720" y="5641848"/>
            <a:ext cx="5852160" cy="365760"/>
          </a:xfrm>
          <a:prstGeom prst="rect">
            <a:avLst/>
          </a:prstGeom>
          <a:noFill/>
          <a:ln/>
        </p:spPr>
        <p:txBody>
          <a:bodyPr wrap="square" lIns="0" tIns="0" rIns="0" bIns="0" rtlCol="0" anchor="t"/>
          <a:lstStyle/>
          <a:p>
            <a:pPr indent="0" marL="0">
              <a:buNone/>
            </a:pPr>
            <a:r>
              <a:rPr lang="en-US" sz="1400" dirty="0">
                <a:solidFill>
                  <a:srgbClr val="5E6B63"/>
                </a:solidFill>
              </a:rPr>
              <a:t>New scam scripts appear faster than rules are written</a:t>
            </a:r>
            <a:endParaRPr lang="en-US" sz="140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p:nvPr/>
        </p:nvSpPr>
        <p:spPr>
          <a:xfrm>
            <a:off x="548640" y="347472"/>
            <a:ext cx="969264" cy="292608"/>
          </a:xfrm>
          <a:prstGeom prst="roundRect">
            <a:avLst>
              <a:gd name="adj" fmla="val 50000"/>
            </a:avLst>
          </a:prstGeom>
          <a:solidFill>
            <a:schemeClr val="accent2"/>
          </a:solidFill>
          <a:ln/>
        </p:spPr>
      </p:sp>
      <p:sp>
        <p:nvSpPr>
          <p:cNvPr id="3" name="Kicker text"/>
          <p:cNvSpPr txBox="1"/>
          <p:nvPr/>
        </p:nvSpPr>
        <p:spPr>
          <a:xfrm>
            <a:off x="548640" y="347472"/>
            <a:ext cx="969264" cy="292608"/>
          </a:xfrm>
          <a:prstGeom prst="rect">
            <a:avLst/>
          </a:prstGeom>
          <a:noFill/>
          <a:ln/>
        </p:spPr>
        <p:txBody>
          <a:bodyPr wrap="square" lIns="0" tIns="0" rIns="0" bIns="0" rtlCol="0" anchor="ctr"/>
          <a:lstStyle/>
          <a:p>
            <a:pPr algn="ctr" indent="0" marL="0">
              <a:buNone/>
            </a:pPr>
            <a:r>
              <a:rPr lang="en-US" sz="1050" b="1" spc="150" kern="0" dirty="0">
                <a:solidFill>
                  <a:schemeClr val="tx2"/>
                </a:solidFill>
              </a:rPr>
              <a:t>OUR IDEA</a:t>
            </a:r>
            <a:endParaRPr lang="en-US" sz="1050" dirty="0"/>
          </a:p>
        </p:txBody>
      </p:sp>
      <p:sp>
        <p:nvSpPr>
          <p:cNvPr id="4" name="Text 1"/>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One question, answered in a few milliseconds</a:t>
            </a:r>
            <a:endParaRPr lang="en-US" sz="3200" dirty="0"/>
          </a:p>
        </p:txBody>
      </p:sp>
      <p:sp>
        <p:nvSpPr>
          <p:cNvPr id="6" name="Card"/>
          <p:cNvSpPr/>
          <p:nvPr/>
        </p:nvSpPr>
        <p:spPr>
          <a:xfrm>
            <a:off x="548640" y="1737360"/>
            <a:ext cx="11064240" cy="1325880"/>
          </a:xfrm>
          <a:prstGeom prst="roundRect">
            <a:avLst>
              <a:gd name="adj" fmla="val 9655"/>
            </a:avLst>
          </a:prstGeom>
          <a:solidFill>
            <a:schemeClr val="accent1"/>
          </a:solidFill>
          <a:ln/>
        </p:spPr>
      </p:sp>
      <p:sp>
        <p:nvSpPr>
          <p:cNvPr id="7" name="Text 4"/>
          <p:cNvSpPr txBox="1"/>
          <p:nvPr/>
        </p:nvSpPr>
        <p:spPr>
          <a:xfrm>
            <a:off x="914400" y="1737360"/>
            <a:ext cx="10332720" cy="1325880"/>
          </a:xfrm>
          <a:prstGeom prst="rect">
            <a:avLst/>
          </a:prstGeom>
          <a:noFill/>
          <a:ln/>
        </p:spPr>
        <p:txBody>
          <a:bodyPr wrap="square" lIns="0" tIns="0" rIns="0" bIns="0" rtlCol="0" anchor="ctr"/>
          <a:lstStyle/>
          <a:p>
            <a:pPr indent="0" marL="0">
              <a:buNone/>
            </a:pPr>
            <a:r>
              <a:rPr lang="en-US" sz="2400" i="1" dirty="0">
                <a:solidFill>
                  <a:schemeClr val="bg1"/>
                </a:solidFill>
              </a:rPr>
              <a:t>“Is this payment going to a scammer — </a:t>
            </a:r>
            <a:pPr indent="0" marL="0">
              <a:buNone/>
            </a:pPr>
            <a:r>
              <a:rPr lang="en-US" sz="2400" b="1" i="1" dirty="0">
                <a:solidFill>
                  <a:schemeClr val="accent2"/>
                </a:solidFill>
              </a:rPr>
              <a:t>and if so, what is the gentlest thing that will stop it?</a:t>
            </a:r>
            <a:pPr indent="0" marL="0">
              <a:buNone/>
            </a:pPr>
            <a:r>
              <a:rPr lang="en-US" sz="2400" i="1" dirty="0">
                <a:solidFill>
                  <a:schemeClr val="bg1"/>
                </a:solidFill>
              </a:rPr>
              <a:t>”</a:t>
            </a:r>
            <a:endParaRPr lang="en-US" sz="2400" dirty="0"/>
          </a:p>
        </p:txBody>
      </p:sp>
      <p:sp>
        <p:nvSpPr>
          <p:cNvPr id="8" name="Icon circle"/>
          <p:cNvSpPr/>
          <p:nvPr/>
        </p:nvSpPr>
        <p:spPr>
          <a:xfrm>
            <a:off x="548640" y="3383280"/>
            <a:ext cx="685800" cy="685800"/>
          </a:xfrm>
          <a:prstGeom prst="ellipse">
            <a:avLst/>
          </a:prstGeom>
          <a:solidFill>
            <a:srgbClr val="FFD600"/>
          </a:solidFill>
          <a:ln/>
        </p:spPr>
      </p:sp>
      <p:pic>
        <p:nvPicPr>
          <p:cNvPr id="9" name="Icon FaMagnifyingGlassDollar" descr="preencoded.png">    </p:cNvPr>
          <p:cNvPicPr>
            <a:picLocks noChangeAspect="1"/>
          </p:cNvPicPr>
          <p:nvPr/>
        </p:nvPicPr>
        <p:blipFill>
          <a:blip r:embed="rId1"/>
          <a:stretch>
            <a:fillRect/>
          </a:stretch>
        </p:blipFill>
        <p:spPr>
          <a:xfrm>
            <a:off x="720090" y="3554730"/>
            <a:ext cx="342900" cy="342900"/>
          </a:xfrm>
          <a:prstGeom prst="rect">
            <a:avLst/>
          </a:prstGeom>
        </p:spPr>
      </p:pic>
      <p:sp>
        <p:nvSpPr>
          <p:cNvPr id="10" name="Text 6"/>
          <p:cNvSpPr txBox="1"/>
          <p:nvPr/>
        </p:nvSpPr>
        <p:spPr>
          <a:xfrm>
            <a:off x="1417320" y="3337560"/>
            <a:ext cx="2697480" cy="365760"/>
          </a:xfrm>
          <a:prstGeom prst="rect">
            <a:avLst/>
          </a:prstGeom>
          <a:noFill/>
          <a:ln/>
        </p:spPr>
        <p:txBody>
          <a:bodyPr wrap="square" lIns="0" tIns="0" rIns="0" bIns="0" rtlCol="0" anchor="t"/>
          <a:lstStyle/>
          <a:p>
            <a:pPr indent="0" marL="0">
              <a:buNone/>
            </a:pPr>
            <a:r>
              <a:rPr lang="en-US" sz="1700" b="1" dirty="0">
                <a:solidFill>
                  <a:schemeClr val="bg1"/>
                </a:solidFill>
              </a:rPr>
              <a:t>Look at the receiver</a:t>
            </a:r>
            <a:endParaRPr lang="en-US" sz="1700" dirty="0"/>
          </a:p>
        </p:txBody>
      </p:sp>
      <p:sp>
        <p:nvSpPr>
          <p:cNvPr id="11" name="Text 7"/>
          <p:cNvSpPr txBox="1"/>
          <p:nvPr/>
        </p:nvSpPr>
        <p:spPr>
          <a:xfrm>
            <a:off x="1417320" y="3721608"/>
            <a:ext cx="2697480" cy="868680"/>
          </a:xfrm>
          <a:prstGeom prst="rect">
            <a:avLst/>
          </a:prstGeom>
          <a:noFill/>
          <a:ln/>
        </p:spPr>
        <p:txBody>
          <a:bodyPr wrap="square" lIns="0" tIns="0" rIns="0" bIns="0" rtlCol="0" anchor="t"/>
          <a:lstStyle/>
          <a:p>
            <a:pPr indent="0" marL="0">
              <a:buNone/>
            </a:pPr>
            <a:r>
              <a:rPr lang="en-US" sz="1350" dirty="0">
                <a:solidFill>
                  <a:srgbClr val="CFDACF"/>
                </a:solidFill>
              </a:rPr>
              <a:t>Score the receiving wallet and its network, not just the sender</a:t>
            </a:r>
            <a:endParaRPr lang="en-US" sz="1350" dirty="0"/>
          </a:p>
        </p:txBody>
      </p:sp>
      <p:sp>
        <p:nvSpPr>
          <p:cNvPr id="12" name="Icon circle"/>
          <p:cNvSpPr/>
          <p:nvPr/>
        </p:nvSpPr>
        <p:spPr>
          <a:xfrm>
            <a:off x="4297680" y="3383280"/>
            <a:ext cx="685800" cy="685800"/>
          </a:xfrm>
          <a:prstGeom prst="ellipse">
            <a:avLst/>
          </a:prstGeom>
          <a:solidFill>
            <a:srgbClr val="FFD600"/>
          </a:solidFill>
          <a:ln/>
        </p:spPr>
      </p:sp>
      <p:pic>
        <p:nvPicPr>
          <p:cNvPr id="13" name="Icon FaStairs" descr="preencoded.png">    </p:cNvPr>
          <p:cNvPicPr>
            <a:picLocks noChangeAspect="1"/>
          </p:cNvPicPr>
          <p:nvPr/>
        </p:nvPicPr>
        <p:blipFill>
          <a:blip r:embed="rId2"/>
          <a:stretch>
            <a:fillRect/>
          </a:stretch>
        </p:blipFill>
        <p:spPr>
          <a:xfrm>
            <a:off x="4469130" y="3554730"/>
            <a:ext cx="342900" cy="342900"/>
          </a:xfrm>
          <a:prstGeom prst="rect">
            <a:avLst/>
          </a:prstGeom>
        </p:spPr>
      </p:pic>
      <p:sp>
        <p:nvSpPr>
          <p:cNvPr id="14" name="Text 9"/>
          <p:cNvSpPr txBox="1"/>
          <p:nvPr/>
        </p:nvSpPr>
        <p:spPr>
          <a:xfrm>
            <a:off x="5166360" y="3337560"/>
            <a:ext cx="2697480" cy="365760"/>
          </a:xfrm>
          <a:prstGeom prst="rect">
            <a:avLst/>
          </a:prstGeom>
          <a:noFill/>
          <a:ln/>
        </p:spPr>
        <p:txBody>
          <a:bodyPr wrap="square" lIns="0" tIns="0" rIns="0" bIns="0" rtlCol="0" anchor="t"/>
          <a:lstStyle/>
          <a:p>
            <a:pPr indent="0" marL="0">
              <a:buNone/>
            </a:pPr>
            <a:r>
              <a:rPr lang="en-US" sz="1700" b="1" dirty="0">
                <a:solidFill>
                  <a:schemeClr val="bg1"/>
                </a:solidFill>
              </a:rPr>
              <a:t>Gentle, graduated</a:t>
            </a:r>
            <a:endParaRPr lang="en-US" sz="1700" dirty="0"/>
          </a:p>
        </p:txBody>
      </p:sp>
      <p:sp>
        <p:nvSpPr>
          <p:cNvPr id="15" name="Text 10"/>
          <p:cNvSpPr txBox="1"/>
          <p:nvPr/>
        </p:nvSpPr>
        <p:spPr>
          <a:xfrm>
            <a:off x="5166360" y="3721608"/>
            <a:ext cx="2697480" cy="868680"/>
          </a:xfrm>
          <a:prstGeom prst="rect">
            <a:avLst/>
          </a:prstGeom>
          <a:noFill/>
          <a:ln/>
        </p:spPr>
        <p:txBody>
          <a:bodyPr wrap="square" lIns="0" tIns="0" rIns="0" bIns="0" rtlCol="0" anchor="t"/>
          <a:lstStyle/>
          <a:p>
            <a:pPr indent="0" marL="0">
              <a:buNone/>
            </a:pPr>
            <a:r>
              <a:rPr lang="en-US" sz="1350" dirty="0">
                <a:solidFill>
                  <a:srgbClr val="CFDACF"/>
                </a:solidFill>
              </a:rPr>
              <a:t>allow → warn → step-up → hold; the customer decides the first two</a:t>
            </a:r>
            <a:endParaRPr lang="en-US" sz="1350" dirty="0"/>
          </a:p>
        </p:txBody>
      </p:sp>
      <p:sp>
        <p:nvSpPr>
          <p:cNvPr id="16" name="Icon circle"/>
          <p:cNvSpPr/>
          <p:nvPr/>
        </p:nvSpPr>
        <p:spPr>
          <a:xfrm>
            <a:off x="8046720" y="3383280"/>
            <a:ext cx="685800" cy="685800"/>
          </a:xfrm>
          <a:prstGeom prst="ellipse">
            <a:avLst/>
          </a:prstGeom>
          <a:solidFill>
            <a:srgbClr val="FFD600"/>
          </a:solidFill>
          <a:ln/>
        </p:spPr>
      </p:sp>
      <p:pic>
        <p:nvPicPr>
          <p:cNvPr id="17" name="Icon FaLanguage" descr="preencoded.png">    </p:cNvPr>
          <p:cNvPicPr>
            <a:picLocks noChangeAspect="1"/>
          </p:cNvPicPr>
          <p:nvPr/>
        </p:nvPicPr>
        <p:blipFill>
          <a:blip r:embed="rId3"/>
          <a:stretch>
            <a:fillRect/>
          </a:stretch>
        </p:blipFill>
        <p:spPr>
          <a:xfrm>
            <a:off x="8218170" y="3554730"/>
            <a:ext cx="342900" cy="342900"/>
          </a:xfrm>
          <a:prstGeom prst="rect">
            <a:avLst/>
          </a:prstGeom>
        </p:spPr>
      </p:pic>
      <p:sp>
        <p:nvSpPr>
          <p:cNvPr id="18" name="Text 12"/>
          <p:cNvSpPr txBox="1"/>
          <p:nvPr/>
        </p:nvSpPr>
        <p:spPr>
          <a:xfrm>
            <a:off x="8915400" y="3337560"/>
            <a:ext cx="2697480" cy="365760"/>
          </a:xfrm>
          <a:prstGeom prst="rect">
            <a:avLst/>
          </a:prstGeom>
          <a:noFill/>
          <a:ln/>
        </p:spPr>
        <p:txBody>
          <a:bodyPr wrap="square" lIns="0" tIns="0" rIns="0" bIns="0" rtlCol="0" anchor="t"/>
          <a:lstStyle/>
          <a:p>
            <a:pPr indent="0" marL="0">
              <a:buNone/>
            </a:pPr>
            <a:r>
              <a:rPr lang="en-US" sz="1700" b="1" dirty="0">
                <a:solidFill>
                  <a:schemeClr val="bg1"/>
                </a:solidFill>
              </a:rPr>
              <a:t>Speak Bangla</a:t>
            </a:r>
            <a:endParaRPr lang="en-US" sz="1700" dirty="0"/>
          </a:p>
        </p:txBody>
      </p:sp>
      <p:sp>
        <p:nvSpPr>
          <p:cNvPr id="19" name="Text 13"/>
          <p:cNvSpPr txBox="1"/>
          <p:nvPr/>
        </p:nvSpPr>
        <p:spPr>
          <a:xfrm>
            <a:off x="8915400" y="3721608"/>
            <a:ext cx="2697480" cy="868680"/>
          </a:xfrm>
          <a:prstGeom prst="rect">
            <a:avLst/>
          </a:prstGeom>
          <a:noFill/>
          <a:ln/>
        </p:spPr>
        <p:txBody>
          <a:bodyPr wrap="square" lIns="0" tIns="0" rIns="0" bIns="0" rtlCol="0" anchor="t"/>
          <a:lstStyle/>
          <a:p>
            <a:pPr indent="0" marL="0">
              <a:buNone/>
            </a:pPr>
            <a:r>
              <a:rPr lang="en-US" sz="1350" dirty="0">
                <a:solidFill>
                  <a:srgbClr val="CFDACF"/>
                </a:solidFill>
              </a:rPr>
              <a:t>Fixed, reviewed warning texts in Bangla and English</a:t>
            </a:r>
            <a:endParaRPr lang="en-US" sz="1350" dirty="0"/>
          </a:p>
        </p:txBody>
      </p:sp>
      <p:sp>
        <p:nvSpPr>
          <p:cNvPr id="20" name="Icon circle"/>
          <p:cNvSpPr/>
          <p:nvPr/>
        </p:nvSpPr>
        <p:spPr>
          <a:xfrm>
            <a:off x="548640" y="4846320"/>
            <a:ext cx="685800" cy="685800"/>
          </a:xfrm>
          <a:prstGeom prst="ellipse">
            <a:avLst/>
          </a:prstGeom>
          <a:solidFill>
            <a:srgbClr val="FFD600"/>
          </a:solidFill>
          <a:ln/>
        </p:spPr>
      </p:sp>
      <p:pic>
        <p:nvPicPr>
          <p:cNvPr id="21" name="Icon FaListCheck" descr="preencoded.png">    </p:cNvPr>
          <p:cNvPicPr>
            <a:picLocks noChangeAspect="1"/>
          </p:cNvPicPr>
          <p:nvPr/>
        </p:nvPicPr>
        <p:blipFill>
          <a:blip r:embed="rId4"/>
          <a:stretch>
            <a:fillRect/>
          </a:stretch>
        </p:blipFill>
        <p:spPr>
          <a:xfrm>
            <a:off x="720090" y="5017770"/>
            <a:ext cx="342900" cy="342900"/>
          </a:xfrm>
          <a:prstGeom prst="rect">
            <a:avLst/>
          </a:prstGeom>
        </p:spPr>
      </p:pic>
      <p:sp>
        <p:nvSpPr>
          <p:cNvPr id="22" name="Text 15"/>
          <p:cNvSpPr txBox="1"/>
          <p:nvPr/>
        </p:nvSpPr>
        <p:spPr>
          <a:xfrm>
            <a:off x="1417320" y="4800600"/>
            <a:ext cx="2697480" cy="365760"/>
          </a:xfrm>
          <a:prstGeom prst="rect">
            <a:avLst/>
          </a:prstGeom>
          <a:noFill/>
          <a:ln/>
        </p:spPr>
        <p:txBody>
          <a:bodyPr wrap="square" lIns="0" tIns="0" rIns="0" bIns="0" rtlCol="0" anchor="t"/>
          <a:lstStyle/>
          <a:p>
            <a:pPr indent="0" marL="0">
              <a:buNone/>
            </a:pPr>
            <a:r>
              <a:rPr lang="en-US" sz="1700" b="1" dirty="0">
                <a:solidFill>
                  <a:schemeClr val="bg1"/>
                </a:solidFill>
              </a:rPr>
              <a:t>Explain everything</a:t>
            </a:r>
            <a:endParaRPr lang="en-US" sz="1700" dirty="0"/>
          </a:p>
        </p:txBody>
      </p:sp>
      <p:sp>
        <p:nvSpPr>
          <p:cNvPr id="23" name="Text 16"/>
          <p:cNvSpPr txBox="1"/>
          <p:nvPr/>
        </p:nvSpPr>
        <p:spPr>
          <a:xfrm>
            <a:off x="1417320" y="5184648"/>
            <a:ext cx="2697480" cy="868680"/>
          </a:xfrm>
          <a:prstGeom prst="rect">
            <a:avLst/>
          </a:prstGeom>
          <a:noFill/>
          <a:ln/>
        </p:spPr>
        <p:txBody>
          <a:bodyPr wrap="square" lIns="0" tIns="0" rIns="0" bIns="0" rtlCol="0" anchor="t"/>
          <a:lstStyle/>
          <a:p>
            <a:pPr indent="0" marL="0">
              <a:buNone/>
            </a:pPr>
            <a:r>
              <a:rPr lang="en-US" sz="1350" dirty="0">
                <a:solidFill>
                  <a:srgbClr val="CFDACF"/>
                </a:solidFill>
              </a:rPr>
              <a:t>SHAP reasons as sentences, a rule trace, the closest past case</a:t>
            </a:r>
            <a:endParaRPr lang="en-US" sz="1350" dirty="0"/>
          </a:p>
        </p:txBody>
      </p:sp>
      <p:sp>
        <p:nvSpPr>
          <p:cNvPr id="24" name="Icon circle"/>
          <p:cNvSpPr/>
          <p:nvPr/>
        </p:nvSpPr>
        <p:spPr>
          <a:xfrm>
            <a:off x="4297680" y="4846320"/>
            <a:ext cx="685800" cy="685800"/>
          </a:xfrm>
          <a:prstGeom prst="ellipse">
            <a:avLst/>
          </a:prstGeom>
          <a:solidFill>
            <a:srgbClr val="FFD600"/>
          </a:solidFill>
          <a:ln/>
        </p:spPr>
      </p:sp>
      <p:pic>
        <p:nvPicPr>
          <p:cNvPr id="25" name="Icon FaUserShield" descr="preencoded.png">    </p:cNvPr>
          <p:cNvPicPr>
            <a:picLocks noChangeAspect="1"/>
          </p:cNvPicPr>
          <p:nvPr/>
        </p:nvPicPr>
        <p:blipFill>
          <a:blip r:embed="rId5"/>
          <a:stretch>
            <a:fillRect/>
          </a:stretch>
        </p:blipFill>
        <p:spPr>
          <a:xfrm>
            <a:off x="4469130" y="5017770"/>
            <a:ext cx="342900" cy="342900"/>
          </a:xfrm>
          <a:prstGeom prst="rect">
            <a:avLst/>
          </a:prstGeom>
        </p:spPr>
      </p:pic>
      <p:sp>
        <p:nvSpPr>
          <p:cNvPr id="26" name="Text 18"/>
          <p:cNvSpPr txBox="1"/>
          <p:nvPr/>
        </p:nvSpPr>
        <p:spPr>
          <a:xfrm>
            <a:off x="5166360" y="4800600"/>
            <a:ext cx="2697480" cy="365760"/>
          </a:xfrm>
          <a:prstGeom prst="rect">
            <a:avLst/>
          </a:prstGeom>
          <a:noFill/>
          <a:ln/>
        </p:spPr>
        <p:txBody>
          <a:bodyPr wrap="square" lIns="0" tIns="0" rIns="0" bIns="0" rtlCol="0" anchor="t"/>
          <a:lstStyle/>
          <a:p>
            <a:pPr indent="0" marL="0">
              <a:buNone/>
            </a:pPr>
            <a:r>
              <a:rPr lang="en-US" sz="1700" b="1" dirty="0">
                <a:solidFill>
                  <a:schemeClr val="bg1"/>
                </a:solidFill>
              </a:rPr>
              <a:t>People decide</a:t>
            </a:r>
            <a:endParaRPr lang="en-US" sz="1700" dirty="0"/>
          </a:p>
        </p:txBody>
      </p:sp>
      <p:sp>
        <p:nvSpPr>
          <p:cNvPr id="27" name="Text 19"/>
          <p:cNvSpPr txBox="1"/>
          <p:nvPr/>
        </p:nvSpPr>
        <p:spPr>
          <a:xfrm>
            <a:off x="5166360" y="5184648"/>
            <a:ext cx="2697480" cy="868680"/>
          </a:xfrm>
          <a:prstGeom prst="rect">
            <a:avLst/>
          </a:prstGeom>
          <a:noFill/>
          <a:ln/>
        </p:spPr>
        <p:txBody>
          <a:bodyPr wrap="square" lIns="0" tIns="0" rIns="0" bIns="0" rtlCol="0" anchor="t"/>
          <a:lstStyle/>
          <a:p>
            <a:pPr indent="0" marL="0">
              <a:buNone/>
            </a:pPr>
            <a:r>
              <a:rPr lang="en-US" sz="1350" dirty="0">
                <a:solidFill>
                  <a:srgbClr val="CFDACF"/>
                </a:solidFill>
              </a:rPr>
              <a:t>A hold waits for an analyst; a freeze needs two people</a:t>
            </a:r>
            <a:endParaRPr lang="en-US" sz="1350" dirty="0"/>
          </a:p>
        </p:txBody>
      </p:sp>
      <p:sp>
        <p:nvSpPr>
          <p:cNvPr id="28" name="Icon circle"/>
          <p:cNvSpPr/>
          <p:nvPr/>
        </p:nvSpPr>
        <p:spPr>
          <a:xfrm>
            <a:off x="8046720" y="4846320"/>
            <a:ext cx="685800" cy="685800"/>
          </a:xfrm>
          <a:prstGeom prst="ellipse">
            <a:avLst/>
          </a:prstGeom>
          <a:solidFill>
            <a:srgbClr val="FFD600"/>
          </a:solidFill>
          <a:ln/>
        </p:spPr>
      </p:sp>
      <p:pic>
        <p:nvPicPr>
          <p:cNvPr id="29" name="Icon FaRotate" descr="preencoded.png">    </p:cNvPr>
          <p:cNvPicPr>
            <a:picLocks noChangeAspect="1"/>
          </p:cNvPicPr>
          <p:nvPr/>
        </p:nvPicPr>
        <p:blipFill>
          <a:blip r:embed="rId6"/>
          <a:stretch>
            <a:fillRect/>
          </a:stretch>
        </p:blipFill>
        <p:spPr>
          <a:xfrm>
            <a:off x="8218170" y="5017770"/>
            <a:ext cx="342900" cy="342900"/>
          </a:xfrm>
          <a:prstGeom prst="rect">
            <a:avLst/>
          </a:prstGeom>
        </p:spPr>
      </p:pic>
      <p:sp>
        <p:nvSpPr>
          <p:cNvPr id="30" name="Text 21"/>
          <p:cNvSpPr txBox="1"/>
          <p:nvPr/>
        </p:nvSpPr>
        <p:spPr>
          <a:xfrm>
            <a:off x="8915400" y="4800600"/>
            <a:ext cx="2697480" cy="365760"/>
          </a:xfrm>
          <a:prstGeom prst="rect">
            <a:avLst/>
          </a:prstGeom>
          <a:noFill/>
          <a:ln/>
        </p:spPr>
        <p:txBody>
          <a:bodyPr wrap="square" lIns="0" tIns="0" rIns="0" bIns="0" rtlCol="0" anchor="t"/>
          <a:lstStyle/>
          <a:p>
            <a:pPr indent="0" marL="0">
              <a:buNone/>
            </a:pPr>
            <a:r>
              <a:rPr lang="en-US" sz="1700" b="1" dirty="0">
                <a:solidFill>
                  <a:schemeClr val="bg1"/>
                </a:solidFill>
              </a:rPr>
              <a:t>Keep learning</a:t>
            </a:r>
            <a:endParaRPr lang="en-US" sz="1700" dirty="0"/>
          </a:p>
        </p:txBody>
      </p:sp>
      <p:sp>
        <p:nvSpPr>
          <p:cNvPr id="31" name="Text 22"/>
          <p:cNvSpPr txBox="1"/>
          <p:nvPr/>
        </p:nvSpPr>
        <p:spPr>
          <a:xfrm>
            <a:off x="8915400" y="5184648"/>
            <a:ext cx="2697480" cy="868680"/>
          </a:xfrm>
          <a:prstGeom prst="rect">
            <a:avLst/>
          </a:prstGeom>
          <a:noFill/>
          <a:ln/>
        </p:spPr>
        <p:txBody>
          <a:bodyPr wrap="square" lIns="0" tIns="0" rIns="0" bIns="0" rtlCol="0" anchor="t"/>
          <a:lstStyle/>
          <a:p>
            <a:pPr indent="0" marL="0">
              <a:buNone/>
            </a:pPr>
            <a:r>
              <a:rPr lang="en-US" sz="1350" dirty="0">
                <a:solidFill>
                  <a:srgbClr val="CFDACF"/>
                </a:solidFill>
              </a:rPr>
              <a:t>Verdicts become labels; challengers run in shadow mode</a:t>
            </a:r>
            <a:endParaRPr lang="en-US" sz="135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AC7B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p:nvPr/>
        </p:nvSpPr>
        <p:spPr>
          <a:xfrm>
            <a:off x="548640" y="347472"/>
            <a:ext cx="2025396" cy="292608"/>
          </a:xfrm>
          <a:prstGeom prst="roundRect">
            <a:avLst>
              <a:gd name="adj" fmla="val 50000"/>
            </a:avLst>
          </a:prstGeom>
          <a:solidFill>
            <a:schemeClr val="accent2"/>
          </a:solidFill>
          <a:ln/>
        </p:spPr>
      </p:sp>
      <p:sp>
        <p:nvSpPr>
          <p:cNvPr id="3" name="Kicker text"/>
          <p:cNvSpPr txBox="1"/>
          <p:nvPr/>
        </p:nvSpPr>
        <p:spPr>
          <a:xfrm>
            <a:off x="548640" y="347472"/>
            <a:ext cx="2025396" cy="292608"/>
          </a:xfrm>
          <a:prstGeom prst="rect">
            <a:avLst/>
          </a:prstGeom>
          <a:noFill/>
          <a:ln/>
        </p:spPr>
        <p:txBody>
          <a:bodyPr wrap="square" lIns="0" tIns="0" rIns="0" bIns="0" rtlCol="0" anchor="ctr"/>
          <a:lstStyle/>
          <a:p>
            <a:pPr algn="ctr" indent="0" marL="0">
              <a:buNone/>
            </a:pPr>
            <a:r>
              <a:rPr lang="en-US" sz="1050" b="1" spc="150" kern="0" dirty="0">
                <a:solidFill>
                  <a:schemeClr val="tx2"/>
                </a:solidFill>
              </a:rPr>
              <a:t>CUSTOMER EXPERIENCE</a:t>
            </a:r>
            <a:endParaRPr lang="en-US" sz="1050" dirty="0"/>
          </a:p>
        </p:txBody>
      </p:sp>
      <p:sp>
        <p:nvSpPr>
          <p:cNvPr id="4" name="Text 1"/>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A warning in Bangla, before the money moves</a:t>
            </a:r>
            <a:endParaRPr lang="en-US" sz="3200" dirty="0"/>
          </a:p>
        </p:txBody>
      </p:sp>
      <p:sp>
        <p:nvSpPr>
          <p:cNvPr id="6" name="Phone body"/>
          <p:cNvSpPr/>
          <p:nvPr/>
        </p:nvSpPr>
        <p:spPr>
          <a:xfrm>
            <a:off x="822960" y="1691640"/>
            <a:ext cx="3246120" cy="4572000"/>
          </a:xfrm>
          <a:prstGeom prst="roundRect">
            <a:avLst>
              <a:gd name="adj" fmla="val 12676"/>
            </a:avLst>
          </a:prstGeom>
          <a:solidFill>
            <a:srgbClr val="111111"/>
          </a:solidFill>
          <a:ln/>
          <a:effectLst>
            <a:outerShdw sx="100000" sy="100000" kx="0" ky="0" algn="bl" rotWithShape="0" blurRad="127000" dist="38100" dir="5400000">
              <a:srgbClr val="16231C">
                <a:alpha val="14000"/>
              </a:srgbClr>
            </a:outerShdw>
          </a:effectLst>
        </p:spPr>
      </p:sp>
      <p:sp>
        <p:nvSpPr>
          <p:cNvPr id="7" name="Phone screen"/>
          <p:cNvSpPr/>
          <p:nvPr/>
        </p:nvSpPr>
        <p:spPr>
          <a:xfrm>
            <a:off x="960120" y="1828800"/>
            <a:ext cx="2971800" cy="4297680"/>
          </a:xfrm>
          <a:prstGeom prst="roundRect">
            <a:avLst>
              <a:gd name="adj" fmla="val 10769"/>
            </a:avLst>
          </a:prstGeom>
          <a:solidFill>
            <a:srgbClr val="F4F6F3"/>
          </a:solidFill>
          <a:ln/>
        </p:spPr>
      </p:sp>
      <p:sp>
        <p:nvSpPr>
          <p:cNvPr id="8" name="App header"/>
          <p:cNvSpPr/>
          <p:nvPr/>
        </p:nvSpPr>
        <p:spPr>
          <a:xfrm>
            <a:off x="960120" y="1828800"/>
            <a:ext cx="2971800" cy="777240"/>
          </a:xfrm>
          <a:prstGeom prst="roundRect">
            <a:avLst>
              <a:gd name="adj" fmla="val 41176"/>
            </a:avLst>
          </a:prstGeom>
          <a:solidFill>
            <a:schemeClr val="accent2"/>
          </a:solidFill>
          <a:ln/>
        </p:spPr>
      </p:sp>
      <p:sp>
        <p:nvSpPr>
          <p:cNvPr id="9" name="App header base"/>
          <p:cNvSpPr/>
          <p:nvPr/>
        </p:nvSpPr>
        <p:spPr>
          <a:xfrm>
            <a:off x="960120" y="2240280"/>
            <a:ext cx="2971800" cy="365760"/>
          </a:xfrm>
          <a:prstGeom prst="rect">
            <a:avLst/>
          </a:prstGeom>
          <a:solidFill>
            <a:schemeClr val="accent2"/>
          </a:solidFill>
          <a:ln/>
        </p:spPr>
      </p:sp>
      <p:sp>
        <p:nvSpPr>
          <p:cNvPr id="10" name="Text 7"/>
          <p:cNvSpPr txBox="1"/>
          <p:nvPr/>
        </p:nvSpPr>
        <p:spPr>
          <a:xfrm>
            <a:off x="1188720" y="2011680"/>
            <a:ext cx="2286000" cy="411480"/>
          </a:xfrm>
          <a:prstGeom prst="rect">
            <a:avLst/>
          </a:prstGeom>
          <a:noFill/>
          <a:ln/>
        </p:spPr>
        <p:txBody>
          <a:bodyPr wrap="square" lIns="0" tIns="0" rIns="0" bIns="0" rtlCol="0" anchor="ctr"/>
          <a:lstStyle/>
          <a:p>
            <a:pPr indent="0" marL="0">
              <a:buNone/>
            </a:pPr>
            <a:r>
              <a:rPr lang="en-US" sz="1600" b="1" dirty="0">
                <a:solidFill>
                  <a:schemeClr val="tx2"/>
                </a:solidFill>
              </a:rPr>
              <a:t>Send money</a:t>
            </a:r>
            <a:endParaRPr lang="en-US" sz="1600" dirty="0"/>
          </a:p>
        </p:txBody>
      </p:sp>
      <p:sp>
        <p:nvSpPr>
          <p:cNvPr id="11" name="Text 8"/>
          <p:cNvSpPr txBox="1"/>
          <p:nvPr/>
        </p:nvSpPr>
        <p:spPr>
          <a:xfrm>
            <a:off x="1188720" y="2743200"/>
            <a:ext cx="2560320" cy="548640"/>
          </a:xfrm>
          <a:prstGeom prst="rect">
            <a:avLst/>
          </a:prstGeom>
          <a:noFill/>
          <a:ln/>
        </p:spPr>
        <p:txBody>
          <a:bodyPr wrap="square" lIns="0" tIns="0" rIns="0" bIns="0" rtlCol="0" anchor="t"/>
          <a:lstStyle/>
          <a:p>
            <a:pPr indent="0" marL="0">
              <a:buNone/>
            </a:pPr>
            <a:r>
              <a:rPr lang="bn-BD" altLang="en-US" sz="1200" dirty="0">
                <a:solidFill>
                  <a:schemeClr val="tx1"/>
                </a:solidFill>
                <a:latin typeface="Baloo Da 2" pitchFamily="34" charset="0"/>
                <a:ea typeface="Baloo Da 2" pitchFamily="34" charset="-122"/>
                <a:cs typeface="Baloo Da 2" pitchFamily="34" charset="-120"/>
              </a:rPr>
              <a:t>To  01XX-XXX-5714</a:t>
            </a:r>
            <a:endParaRPr lang="bn-BD" sz="1200" dirty="0"/>
          </a:p>
          <a:p>
            <a:pPr indent="0" marL="0">
              <a:buNone/>
            </a:pPr>
            <a:r>
              <a:rPr lang="bn-BD" altLang="en-US" sz="1200" dirty="0">
                <a:solidFill>
                  <a:schemeClr val="tx1"/>
                </a:solidFill>
                <a:latin typeface="Baloo Da 2" pitchFamily="34" charset="0"/>
                <a:ea typeface="Baloo Da 2" pitchFamily="34" charset="-122"/>
                <a:cs typeface="Baloo Da 2" pitchFamily="34" charset="-120"/>
              </a:rPr>
              <a:t>Amount  ৳9,130</a:t>
            </a:r>
            <a:endParaRPr lang="bn-BD" sz="1200" dirty="0"/>
          </a:p>
        </p:txBody>
      </p:sp>
      <p:sp>
        <p:nvSpPr>
          <p:cNvPr id="12" name="Card"/>
          <p:cNvSpPr/>
          <p:nvPr/>
        </p:nvSpPr>
        <p:spPr>
          <a:xfrm>
            <a:off x="1097280" y="3337560"/>
            <a:ext cx="2697480" cy="2057400"/>
          </a:xfrm>
          <a:prstGeom prst="roundRect">
            <a:avLst>
              <a:gd name="adj" fmla="val 5333"/>
            </a:avLst>
          </a:prstGeom>
          <a:solidFill>
            <a:srgbClr val="FFF8CC"/>
          </a:solidFill>
          <a:ln w="12700">
            <a:solidFill>
              <a:srgbClr val="E0B800"/>
            </a:solidFill>
            <a:prstDash val="solid"/>
          </a:ln>
        </p:spPr>
      </p:sp>
      <p:sp>
        <p:nvSpPr>
          <p:cNvPr id="13" name="Text 10"/>
          <p:cNvSpPr txBox="1"/>
          <p:nvPr/>
        </p:nvSpPr>
        <p:spPr>
          <a:xfrm>
            <a:off x="1234440" y="3429000"/>
            <a:ext cx="2468880" cy="320040"/>
          </a:xfrm>
          <a:prstGeom prst="rect">
            <a:avLst/>
          </a:prstGeom>
          <a:noFill/>
          <a:ln/>
        </p:spPr>
        <p:txBody>
          <a:bodyPr wrap="square" lIns="0" tIns="0" rIns="0" bIns="0" rtlCol="0" anchor="t"/>
          <a:lstStyle/>
          <a:p>
            <a:pPr indent="0" marL="0">
              <a:buNone/>
            </a:pPr>
            <a:r>
              <a:rPr lang="bn-BD" altLang="en-US" sz="1300" b="1" dirty="0">
                <a:solidFill>
                  <a:schemeClr val="tx2"/>
                </a:solidFill>
                <a:latin typeface="Baloo Da 2" pitchFamily="34" charset="0"/>
                <a:ea typeface="Baloo Da 2" pitchFamily="34" charset="-122"/>
                <a:cs typeface="Baloo Da 2" pitchFamily="34" charset="-120"/>
              </a:rPr>
              <a:t>⚠  একটু থামুন</a:t>
            </a:r>
            <a:endParaRPr lang="bn-BD" sz="1300" dirty="0"/>
          </a:p>
        </p:txBody>
      </p:sp>
      <p:sp>
        <p:nvSpPr>
          <p:cNvPr id="14" name="Text 11"/>
          <p:cNvSpPr txBox="1"/>
          <p:nvPr/>
        </p:nvSpPr>
        <p:spPr>
          <a:xfrm>
            <a:off x="1234440" y="3767328"/>
            <a:ext cx="2468880" cy="1554480"/>
          </a:xfrm>
          <a:prstGeom prst="rect">
            <a:avLst/>
          </a:prstGeom>
          <a:noFill/>
          <a:ln/>
        </p:spPr>
        <p:txBody>
          <a:bodyPr wrap="square" lIns="0" tIns="0" rIns="0" bIns="0" rtlCol="0" anchor="t"/>
          <a:lstStyle/>
          <a:p>
            <a:pPr indent="0" marL="0">
              <a:lnSpc>
                <a:spcPct val="120000"/>
              </a:lnSpc>
              <a:buNone/>
            </a:pPr>
            <a:r>
              <a:rPr lang="bn-BD" altLang="en-US" sz="1200" dirty="0">
                <a:solidFill>
                  <a:schemeClr val="tx1"/>
                </a:solidFill>
                <a:latin typeface="Baloo Da 2" pitchFamily="34" charset="0"/>
                <a:ea typeface="Baloo Da 2" pitchFamily="34" charset="-122"/>
                <a:cs typeface="Baloo Da 2" pitchFamily="34" charset="-120"/>
              </a:rPr>
              <a:t>টাকা পাঠানোর আগে একটু থামুন। প্রতারকরা উপায় কর্মকর্তা, লটারি কর্তৃপক্ষ বা বিনিয়োগ এজেন্ট সেজে এ ধরনের ওয়ালেটে টাকা পাঠাতে বলে। আপনি কি এই ব্যক্তিকে চেনেন?</a:t>
            </a:r>
            <a:endParaRPr lang="bn-BD" sz="1200" dirty="0"/>
          </a:p>
        </p:txBody>
      </p:sp>
      <p:sp>
        <p:nvSpPr>
          <p:cNvPr id="15" name="Cancel btn"/>
          <p:cNvSpPr/>
          <p:nvPr/>
        </p:nvSpPr>
        <p:spPr>
          <a:xfrm>
            <a:off x="1097280" y="5532120"/>
            <a:ext cx="1280160" cy="411480"/>
          </a:xfrm>
          <a:prstGeom prst="roundRect">
            <a:avLst>
              <a:gd name="adj" fmla="val 48889"/>
            </a:avLst>
          </a:prstGeom>
          <a:solidFill>
            <a:schemeClr val="accent1"/>
          </a:solidFill>
          <a:ln/>
        </p:spPr>
      </p:sp>
      <p:sp>
        <p:nvSpPr>
          <p:cNvPr id="16" name="Text 13"/>
          <p:cNvSpPr txBox="1"/>
          <p:nvPr/>
        </p:nvSpPr>
        <p:spPr>
          <a:xfrm>
            <a:off x="1097280" y="5532120"/>
            <a:ext cx="1280160" cy="411480"/>
          </a:xfrm>
          <a:prstGeom prst="rect">
            <a:avLst/>
          </a:prstGeom>
          <a:noFill/>
          <a:ln/>
        </p:spPr>
        <p:txBody>
          <a:bodyPr wrap="square" lIns="0" tIns="0" rIns="0" bIns="0" rtlCol="0" anchor="ctr"/>
          <a:lstStyle/>
          <a:p>
            <a:pPr algn="ctr" indent="0" marL="0">
              <a:buNone/>
            </a:pPr>
            <a:r>
              <a:rPr lang="bn-BD" altLang="en-US" sz="1100" b="1" dirty="0">
                <a:solidFill>
                  <a:schemeClr val="bg1"/>
                </a:solidFill>
                <a:latin typeface="Baloo Da 2" pitchFamily="34" charset="0"/>
                <a:ea typeface="Baloo Da 2" pitchFamily="34" charset="-122"/>
                <a:cs typeface="Baloo Da 2" pitchFamily="34" charset="-120"/>
              </a:rPr>
              <a:t>বাতিল করুন</a:t>
            </a:r>
            <a:endParaRPr lang="bn-BD" sz="1100" dirty="0"/>
          </a:p>
        </p:txBody>
      </p:sp>
      <p:sp>
        <p:nvSpPr>
          <p:cNvPr id="17" name="Continue btn"/>
          <p:cNvSpPr/>
          <p:nvPr/>
        </p:nvSpPr>
        <p:spPr>
          <a:xfrm>
            <a:off x="2514600" y="5532120"/>
            <a:ext cx="1280160" cy="411480"/>
          </a:xfrm>
          <a:prstGeom prst="roundRect">
            <a:avLst>
              <a:gd name="adj" fmla="val 48889"/>
            </a:avLst>
          </a:prstGeom>
          <a:solidFill>
            <a:schemeClr val="bg1"/>
          </a:solidFill>
          <a:ln w="12700">
            <a:solidFill>
              <a:srgbClr val="CFDACF"/>
            </a:solidFill>
            <a:prstDash val="solid"/>
          </a:ln>
        </p:spPr>
      </p:sp>
      <p:sp>
        <p:nvSpPr>
          <p:cNvPr id="18" name="Text 15"/>
          <p:cNvSpPr txBox="1"/>
          <p:nvPr/>
        </p:nvSpPr>
        <p:spPr>
          <a:xfrm>
            <a:off x="2514600" y="5532120"/>
            <a:ext cx="1280160" cy="411480"/>
          </a:xfrm>
          <a:prstGeom prst="rect">
            <a:avLst/>
          </a:prstGeom>
          <a:noFill/>
          <a:ln/>
        </p:spPr>
        <p:txBody>
          <a:bodyPr wrap="square" lIns="0" tIns="0" rIns="0" bIns="0" rtlCol="0" anchor="ctr"/>
          <a:lstStyle/>
          <a:p>
            <a:pPr algn="ctr" indent="0" marL="0">
              <a:buNone/>
            </a:pPr>
            <a:r>
              <a:rPr lang="bn-BD" altLang="en-US" sz="1100" dirty="0">
                <a:solidFill>
                  <a:schemeClr val="tx2"/>
                </a:solidFill>
                <a:latin typeface="Baloo Da 2" pitchFamily="34" charset="0"/>
                <a:ea typeface="Baloo Da 2" pitchFamily="34" charset="-122"/>
                <a:cs typeface="Baloo Da 2" pitchFamily="34" charset="-120"/>
              </a:rPr>
              <a:t>তবুও পাঠান</a:t>
            </a:r>
            <a:endParaRPr lang="bn-BD" sz="1100" dirty="0"/>
          </a:p>
        </p:txBody>
      </p:sp>
      <p:sp>
        <p:nvSpPr>
          <p:cNvPr id="19" name="Text 16"/>
          <p:cNvSpPr txBox="1"/>
          <p:nvPr/>
        </p:nvSpPr>
        <p:spPr>
          <a:xfrm>
            <a:off x="4754880" y="1783080"/>
            <a:ext cx="67665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In English</a:t>
            </a:r>
            <a:endParaRPr lang="en-US" sz="1200" dirty="0"/>
          </a:p>
        </p:txBody>
      </p:sp>
      <p:sp>
        <p:nvSpPr>
          <p:cNvPr id="20" name="Text 17"/>
          <p:cNvSpPr txBox="1"/>
          <p:nvPr/>
        </p:nvSpPr>
        <p:spPr>
          <a:xfrm>
            <a:off x="4754880" y="2084832"/>
            <a:ext cx="6858000" cy="1005840"/>
          </a:xfrm>
          <a:prstGeom prst="rect">
            <a:avLst/>
          </a:prstGeom>
          <a:noFill/>
          <a:ln/>
        </p:spPr>
        <p:txBody>
          <a:bodyPr wrap="square" lIns="0" tIns="0" rIns="0" bIns="0" rtlCol="0" anchor="t"/>
          <a:lstStyle/>
          <a:p>
            <a:pPr indent="0" marL="0">
              <a:buNone/>
            </a:pPr>
            <a:r>
              <a:rPr lang="en-US" sz="1500" i="1" dirty="0">
                <a:solidFill>
                  <a:schemeClr val="tx2"/>
                </a:solidFill>
              </a:rPr>
              <a:t>“Pause before you send. Scammers pose as upay staff, lottery officials or investment agents and ask people to send money to wallets like this one. Do you know this person, and did you decide to pay them yourself?”</a:t>
            </a:r>
            <a:endParaRPr lang="en-US" sz="1500" dirty="0"/>
          </a:p>
        </p:txBody>
      </p:sp>
      <p:sp>
        <p:nvSpPr>
          <p:cNvPr id="21" name="Card"/>
          <p:cNvSpPr/>
          <p:nvPr/>
        </p:nvSpPr>
        <p:spPr>
          <a:xfrm>
            <a:off x="4754880" y="3337560"/>
            <a:ext cx="6858000" cy="777240"/>
          </a:xfrm>
          <a:prstGeom prst="roundRect">
            <a:avLst>
              <a:gd name="adj" fmla="val 16471"/>
            </a:avLst>
          </a:prstGeom>
          <a:solidFill>
            <a:schemeClr val="bg2"/>
          </a:solidFill>
          <a:ln/>
        </p:spPr>
      </p:sp>
      <p:sp>
        <p:nvSpPr>
          <p:cNvPr id="22" name="Icon circle"/>
          <p:cNvSpPr/>
          <p:nvPr/>
        </p:nvSpPr>
        <p:spPr>
          <a:xfrm>
            <a:off x="4892040" y="3456432"/>
            <a:ext cx="548640" cy="548640"/>
          </a:xfrm>
          <a:prstGeom prst="ellipse">
            <a:avLst/>
          </a:prstGeom>
          <a:solidFill>
            <a:srgbClr val="E0B800"/>
          </a:solidFill>
          <a:ln/>
        </p:spPr>
      </p:sp>
      <p:pic>
        <p:nvPicPr>
          <p:cNvPr id="23" name="Icon FaTriangleExclamation" descr="preencoded.png">    </p:cNvPr>
          <p:cNvPicPr>
            <a:picLocks noChangeAspect="1"/>
          </p:cNvPicPr>
          <p:nvPr/>
        </p:nvPicPr>
        <p:blipFill>
          <a:blip r:embed="rId1"/>
          <a:stretch>
            <a:fillRect/>
          </a:stretch>
        </p:blipFill>
        <p:spPr>
          <a:xfrm>
            <a:off x="5029200" y="3593592"/>
            <a:ext cx="274320" cy="274320"/>
          </a:xfrm>
          <a:prstGeom prst="rect">
            <a:avLst/>
          </a:prstGeom>
        </p:spPr>
      </p:pic>
      <p:sp>
        <p:nvSpPr>
          <p:cNvPr id="24" name="Text 20"/>
          <p:cNvSpPr txBox="1"/>
          <p:nvPr/>
        </p:nvSpPr>
        <p:spPr>
          <a:xfrm>
            <a:off x="5623560" y="3337560"/>
            <a:ext cx="1188720" cy="777240"/>
          </a:xfrm>
          <a:prstGeom prst="rect">
            <a:avLst/>
          </a:prstGeom>
          <a:noFill/>
          <a:ln/>
        </p:spPr>
        <p:txBody>
          <a:bodyPr wrap="square" lIns="0" tIns="0" rIns="0" bIns="0" rtlCol="0" anchor="ctr"/>
          <a:lstStyle/>
          <a:p>
            <a:pPr indent="0" marL="0">
              <a:buNone/>
            </a:pPr>
            <a:r>
              <a:rPr lang="en-US" sz="1700" b="1" dirty="0">
                <a:solidFill>
                  <a:schemeClr val="tx2"/>
                </a:solidFill>
              </a:rPr>
              <a:t>Warn</a:t>
            </a:r>
            <a:endParaRPr lang="en-US" sz="1700" dirty="0"/>
          </a:p>
        </p:txBody>
      </p:sp>
      <p:sp>
        <p:nvSpPr>
          <p:cNvPr id="25" name="Text 21"/>
          <p:cNvSpPr txBox="1"/>
          <p:nvPr/>
        </p:nvSpPr>
        <p:spPr>
          <a:xfrm>
            <a:off x="6812280" y="3337560"/>
            <a:ext cx="4663440" cy="777240"/>
          </a:xfrm>
          <a:prstGeom prst="rect">
            <a:avLst/>
          </a:prstGeom>
          <a:noFill/>
          <a:ln/>
        </p:spPr>
        <p:txBody>
          <a:bodyPr wrap="square" lIns="0" tIns="0" rIns="0" bIns="0" rtlCol="0" anchor="ctr"/>
          <a:lstStyle/>
          <a:p>
            <a:pPr indent="0" marL="0">
              <a:buNone/>
            </a:pPr>
            <a:r>
              <a:rPr lang="en-US" sz="1400" dirty="0">
                <a:solidFill>
                  <a:schemeClr val="tx1"/>
                </a:solidFill>
              </a:rPr>
              <a:t>Customer cancels, or continues knowingly</a:t>
            </a:r>
            <a:endParaRPr lang="en-US" sz="1400" dirty="0"/>
          </a:p>
        </p:txBody>
      </p:sp>
      <p:sp>
        <p:nvSpPr>
          <p:cNvPr id="26" name="Card"/>
          <p:cNvSpPr/>
          <p:nvPr/>
        </p:nvSpPr>
        <p:spPr>
          <a:xfrm>
            <a:off x="4754880" y="4270248"/>
            <a:ext cx="6858000" cy="777240"/>
          </a:xfrm>
          <a:prstGeom prst="roundRect">
            <a:avLst>
              <a:gd name="adj" fmla="val 16471"/>
            </a:avLst>
          </a:prstGeom>
          <a:solidFill>
            <a:schemeClr val="bg2"/>
          </a:solidFill>
          <a:ln/>
        </p:spPr>
      </p:sp>
      <p:sp>
        <p:nvSpPr>
          <p:cNvPr id="27" name="Icon circle"/>
          <p:cNvSpPr/>
          <p:nvPr/>
        </p:nvSpPr>
        <p:spPr>
          <a:xfrm>
            <a:off x="4892040" y="4389120"/>
            <a:ext cx="548640" cy="548640"/>
          </a:xfrm>
          <a:prstGeom prst="ellipse">
            <a:avLst/>
          </a:prstGeom>
          <a:solidFill>
            <a:srgbClr val="F08A24"/>
          </a:solidFill>
          <a:ln/>
        </p:spPr>
      </p:sp>
      <p:pic>
        <p:nvPicPr>
          <p:cNvPr id="28" name="Icon FaFingerprint" descr="preencoded.png">    </p:cNvPr>
          <p:cNvPicPr>
            <a:picLocks noChangeAspect="1"/>
          </p:cNvPicPr>
          <p:nvPr/>
        </p:nvPicPr>
        <p:blipFill>
          <a:blip r:embed="rId2"/>
          <a:stretch>
            <a:fillRect/>
          </a:stretch>
        </p:blipFill>
        <p:spPr>
          <a:xfrm>
            <a:off x="5029200" y="4526280"/>
            <a:ext cx="274320" cy="274320"/>
          </a:xfrm>
          <a:prstGeom prst="rect">
            <a:avLst/>
          </a:prstGeom>
        </p:spPr>
      </p:pic>
      <p:sp>
        <p:nvSpPr>
          <p:cNvPr id="29" name="Text 24"/>
          <p:cNvSpPr txBox="1"/>
          <p:nvPr/>
        </p:nvSpPr>
        <p:spPr>
          <a:xfrm>
            <a:off x="5623560" y="4270248"/>
            <a:ext cx="1188720" cy="777240"/>
          </a:xfrm>
          <a:prstGeom prst="rect">
            <a:avLst/>
          </a:prstGeom>
          <a:noFill/>
          <a:ln/>
        </p:spPr>
        <p:txBody>
          <a:bodyPr wrap="square" lIns="0" tIns="0" rIns="0" bIns="0" rtlCol="0" anchor="ctr"/>
          <a:lstStyle/>
          <a:p>
            <a:pPr indent="0" marL="0">
              <a:buNone/>
            </a:pPr>
            <a:r>
              <a:rPr lang="en-US" sz="1700" b="1" dirty="0">
                <a:solidFill>
                  <a:schemeClr val="tx2"/>
                </a:solidFill>
              </a:rPr>
              <a:t>Step-up</a:t>
            </a:r>
            <a:endParaRPr lang="en-US" sz="1700" dirty="0"/>
          </a:p>
        </p:txBody>
      </p:sp>
      <p:sp>
        <p:nvSpPr>
          <p:cNvPr id="30" name="Text 25"/>
          <p:cNvSpPr txBox="1"/>
          <p:nvPr/>
        </p:nvSpPr>
        <p:spPr>
          <a:xfrm>
            <a:off x="6812280" y="4270248"/>
            <a:ext cx="4663440" cy="777240"/>
          </a:xfrm>
          <a:prstGeom prst="rect">
            <a:avLst/>
          </a:prstGeom>
          <a:noFill/>
          <a:ln/>
        </p:spPr>
        <p:txBody>
          <a:bodyPr wrap="square" lIns="0" tIns="0" rIns="0" bIns="0" rtlCol="0" anchor="ctr"/>
          <a:lstStyle/>
          <a:p>
            <a:pPr indent="0" marL="0">
              <a:buNone/>
            </a:pPr>
            <a:r>
              <a:rPr lang="en-US" sz="1400" dirty="0">
                <a:solidFill>
                  <a:schemeClr val="tx1"/>
                </a:solidFill>
              </a:rPr>
              <a:t>Verify again, then wait out a 30-minute cooling-off</a:t>
            </a:r>
            <a:endParaRPr lang="en-US" sz="1400" dirty="0"/>
          </a:p>
        </p:txBody>
      </p:sp>
      <p:sp>
        <p:nvSpPr>
          <p:cNvPr id="31" name="Card"/>
          <p:cNvSpPr/>
          <p:nvPr/>
        </p:nvSpPr>
        <p:spPr>
          <a:xfrm>
            <a:off x="4754880" y="5202936"/>
            <a:ext cx="6858000" cy="777240"/>
          </a:xfrm>
          <a:prstGeom prst="roundRect">
            <a:avLst>
              <a:gd name="adj" fmla="val 16471"/>
            </a:avLst>
          </a:prstGeom>
          <a:solidFill>
            <a:schemeClr val="bg2"/>
          </a:solidFill>
          <a:ln/>
        </p:spPr>
      </p:sp>
      <p:sp>
        <p:nvSpPr>
          <p:cNvPr id="32" name="Icon circle"/>
          <p:cNvSpPr/>
          <p:nvPr/>
        </p:nvSpPr>
        <p:spPr>
          <a:xfrm>
            <a:off x="4892040" y="5321808"/>
            <a:ext cx="548640" cy="548640"/>
          </a:xfrm>
          <a:prstGeom prst="ellipse">
            <a:avLst/>
          </a:prstGeom>
          <a:solidFill>
            <a:srgbClr val="E5484D"/>
          </a:solidFill>
          <a:ln/>
        </p:spPr>
      </p:sp>
      <p:pic>
        <p:nvPicPr>
          <p:cNvPr id="33" name="Icon FaCirclePause" descr="preencoded.png">    </p:cNvPr>
          <p:cNvPicPr>
            <a:picLocks noChangeAspect="1"/>
          </p:cNvPicPr>
          <p:nvPr/>
        </p:nvPicPr>
        <p:blipFill>
          <a:blip r:embed="rId3"/>
          <a:stretch>
            <a:fillRect/>
          </a:stretch>
        </p:blipFill>
        <p:spPr>
          <a:xfrm>
            <a:off x="5029200" y="5458968"/>
            <a:ext cx="274320" cy="274320"/>
          </a:xfrm>
          <a:prstGeom prst="rect">
            <a:avLst/>
          </a:prstGeom>
        </p:spPr>
      </p:pic>
      <p:sp>
        <p:nvSpPr>
          <p:cNvPr id="34" name="Text 28"/>
          <p:cNvSpPr txBox="1"/>
          <p:nvPr/>
        </p:nvSpPr>
        <p:spPr>
          <a:xfrm>
            <a:off x="5623560" y="5202936"/>
            <a:ext cx="1188720" cy="777240"/>
          </a:xfrm>
          <a:prstGeom prst="rect">
            <a:avLst/>
          </a:prstGeom>
          <a:noFill/>
          <a:ln/>
        </p:spPr>
        <p:txBody>
          <a:bodyPr wrap="square" lIns="0" tIns="0" rIns="0" bIns="0" rtlCol="0" anchor="ctr"/>
          <a:lstStyle/>
          <a:p>
            <a:pPr indent="0" marL="0">
              <a:buNone/>
            </a:pPr>
            <a:r>
              <a:rPr lang="en-US" sz="1700" b="1" dirty="0">
                <a:solidFill>
                  <a:schemeClr val="tx2"/>
                </a:solidFill>
              </a:rPr>
              <a:t>Hold</a:t>
            </a:r>
            <a:endParaRPr lang="en-US" sz="1700" dirty="0"/>
          </a:p>
        </p:txBody>
      </p:sp>
      <p:sp>
        <p:nvSpPr>
          <p:cNvPr id="35" name="Text 29"/>
          <p:cNvSpPr txBox="1"/>
          <p:nvPr/>
        </p:nvSpPr>
        <p:spPr>
          <a:xfrm>
            <a:off x="6812280" y="5202936"/>
            <a:ext cx="4663440" cy="777240"/>
          </a:xfrm>
          <a:prstGeom prst="rect">
            <a:avLst/>
          </a:prstGeom>
          <a:noFill/>
          <a:ln/>
        </p:spPr>
        <p:txBody>
          <a:bodyPr wrap="square" lIns="0" tIns="0" rIns="0" bIns="0" rtlCol="0" anchor="ctr"/>
          <a:lstStyle/>
          <a:p>
            <a:pPr indent="0" marL="0">
              <a:buNone/>
            </a:pPr>
            <a:r>
              <a:rPr lang="en-US" sz="1400" dirty="0">
                <a:solidFill>
                  <a:schemeClr val="tx1"/>
                </a:solidFill>
              </a:rPr>
              <a:t>“Your money is still in your wallet” while an analyst reviews</a:t>
            </a:r>
            <a:endParaRPr lang="en-US" sz="140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p:nvPr/>
        </p:nvSpPr>
        <p:spPr>
          <a:xfrm>
            <a:off x="548640" y="347472"/>
            <a:ext cx="1737360" cy="292608"/>
          </a:xfrm>
          <a:prstGeom prst="roundRect">
            <a:avLst>
              <a:gd name="adj" fmla="val 50000"/>
            </a:avLst>
          </a:prstGeom>
          <a:solidFill>
            <a:schemeClr val="accent2"/>
          </a:solidFill>
          <a:ln/>
        </p:spPr>
      </p:sp>
      <p:sp>
        <p:nvSpPr>
          <p:cNvPr id="3" name="Kicker text"/>
          <p:cNvSpPr txBox="1"/>
          <p:nvPr/>
        </p:nvSpPr>
        <p:spPr>
          <a:xfrm>
            <a:off x="548640" y="347472"/>
            <a:ext cx="1737360" cy="292608"/>
          </a:xfrm>
          <a:prstGeom prst="rect">
            <a:avLst/>
          </a:prstGeom>
          <a:noFill/>
          <a:ln/>
        </p:spPr>
        <p:txBody>
          <a:bodyPr wrap="square" lIns="0" tIns="0" rIns="0" bIns="0" rtlCol="0" anchor="ctr"/>
          <a:lstStyle/>
          <a:p>
            <a:pPr algn="ctr" indent="0" marL="0">
              <a:buNone/>
            </a:pPr>
            <a:r>
              <a:rPr lang="en-US" sz="1050" b="1" spc="150" kern="0" dirty="0">
                <a:solidFill>
                  <a:schemeClr val="tx2"/>
                </a:solidFill>
              </a:rPr>
              <a:t>FOLLOW THE MONEY</a:t>
            </a:r>
            <a:endParaRPr lang="en-US" sz="1050" dirty="0"/>
          </a:p>
        </p:txBody>
      </p:sp>
      <p:sp>
        <p:nvSpPr>
          <p:cNvPr id="4" name="Text 1"/>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Catch the mule, not just the payment</a:t>
            </a:r>
            <a:endParaRPr lang="en-US" sz="3200" dirty="0"/>
          </a:p>
        </p:txBody>
      </p:sp>
      <p:sp>
        <p:nvSpPr>
          <p:cNvPr id="6" name="Screen frame"/>
          <p:cNvSpPr/>
          <p:nvPr/>
        </p:nvSpPr>
        <p:spPr>
          <a:xfrm>
            <a:off x="5961888" y="1737360"/>
            <a:ext cx="5632704" cy="4432554"/>
          </a:xfrm>
          <a:prstGeom prst="roundRect">
            <a:avLst>
              <a:gd name="adj" fmla="val 2476"/>
            </a:avLst>
          </a:prstGeom>
          <a:solidFill>
            <a:srgbClr val="1B1B1B"/>
          </a:solidFill>
          <a:ln w="12700">
            <a:solidFill>
              <a:srgbClr val="404040"/>
            </a:solidFill>
            <a:prstDash val="solid"/>
          </a:ln>
          <a:effectLst>
            <a:outerShdw sx="100000" sy="100000" kx="0" ky="0" algn="bl" rotWithShape="0" blurRad="127000" dist="38100" dir="5400000">
              <a:srgbClr val="16231C">
                <a:alpha val="14000"/>
              </a:srgbClr>
            </a:outerShdw>
          </a:effectLst>
        </p:spPr>
      </p:sp>
      <p:pic>
        <p:nvPicPr>
          <p:cNvPr id="7" name="Screenshot ring" descr="img/ring.jpg">    </p:cNvPr>
          <p:cNvPicPr>
            <a:picLocks noChangeAspect="1"/>
          </p:cNvPicPr>
          <p:nvPr/>
        </p:nvPicPr>
        <p:blipFill>
          <a:blip r:embed="rId1"/>
          <a:stretch>
            <a:fillRect/>
          </a:stretch>
        </p:blipFill>
        <p:spPr>
          <a:xfrm>
            <a:off x="6035040" y="1810512"/>
            <a:ext cx="5486400" cy="4286250"/>
          </a:xfrm>
          <a:prstGeom prst="rect">
            <a:avLst/>
          </a:prstGeom>
        </p:spPr>
      </p:pic>
      <p:sp>
        <p:nvSpPr>
          <p:cNvPr id="8" name="Card"/>
          <p:cNvSpPr/>
          <p:nvPr/>
        </p:nvSpPr>
        <p:spPr>
          <a:xfrm>
            <a:off x="548640" y="1783080"/>
            <a:ext cx="2514600" cy="2011680"/>
          </a:xfrm>
          <a:prstGeom prst="roundRect">
            <a:avLst>
              <a:gd name="adj" fmla="val 6364"/>
            </a:avLst>
          </a:prstGeom>
          <a:solidFill>
            <a:srgbClr val="24352B"/>
          </a:solidFill>
          <a:ln/>
        </p:spPr>
      </p:sp>
      <p:sp>
        <p:nvSpPr>
          <p:cNvPr id="9" name="Text 5"/>
          <p:cNvSpPr txBox="1"/>
          <p:nvPr/>
        </p:nvSpPr>
        <p:spPr>
          <a:xfrm>
            <a:off x="749808" y="1947672"/>
            <a:ext cx="2194560" cy="594360"/>
          </a:xfrm>
          <a:prstGeom prst="rect">
            <a:avLst/>
          </a:prstGeom>
          <a:noFill/>
          <a:ln/>
        </p:spPr>
        <p:txBody>
          <a:bodyPr wrap="square" lIns="0" tIns="0" rIns="0" bIns="0" rtlCol="0" anchor="t"/>
          <a:lstStyle/>
          <a:p>
            <a:pPr indent="0" marL="0">
              <a:buNone/>
            </a:pPr>
            <a:r>
              <a:rPr lang="en-US" sz="3000" b="1" dirty="0">
                <a:solidFill>
                  <a:schemeClr val="accent2"/>
                </a:solidFill>
              </a:rPr>
              <a:t>70</a:t>
            </a:r>
            <a:endParaRPr lang="en-US" sz="3000" dirty="0"/>
          </a:p>
        </p:txBody>
      </p:sp>
      <p:sp>
        <p:nvSpPr>
          <p:cNvPr id="10" name="Text 6"/>
          <p:cNvSpPr txBox="1"/>
          <p:nvPr/>
        </p:nvSpPr>
        <p:spPr>
          <a:xfrm>
            <a:off x="749808" y="2587752"/>
            <a:ext cx="2148840" cy="685800"/>
          </a:xfrm>
          <a:prstGeom prst="rect">
            <a:avLst/>
          </a:prstGeom>
          <a:noFill/>
          <a:ln/>
        </p:spPr>
        <p:txBody>
          <a:bodyPr wrap="square" lIns="0" tIns="0" rIns="0" bIns="0" rtlCol="0" anchor="t"/>
          <a:lstStyle/>
          <a:p>
            <a:pPr indent="0" marL="0">
              <a:buNone/>
            </a:pPr>
            <a:r>
              <a:rPr lang="en-US" sz="1350" b="1" dirty="0">
                <a:solidFill>
                  <a:schemeClr val="bg1"/>
                </a:solidFill>
              </a:rPr>
              <a:t>mule wallets flagged before any victim had paid</a:t>
            </a:r>
            <a:endParaRPr lang="en-US" sz="1350" dirty="0"/>
          </a:p>
        </p:txBody>
      </p:sp>
      <p:sp>
        <p:nvSpPr>
          <p:cNvPr id="11" name="Text 7"/>
          <p:cNvSpPr txBox="1"/>
          <p:nvPr/>
        </p:nvSpPr>
        <p:spPr>
          <a:xfrm>
            <a:off x="749808" y="3264408"/>
            <a:ext cx="2148840" cy="457200"/>
          </a:xfrm>
          <a:prstGeom prst="rect">
            <a:avLst/>
          </a:prstGeom>
          <a:noFill/>
          <a:ln/>
        </p:spPr>
        <p:txBody>
          <a:bodyPr wrap="square" lIns="0" tIns="0" rIns="0" bIns="0" rtlCol="0" anchor="t"/>
          <a:lstStyle/>
          <a:p>
            <a:pPr indent="0" marL="0">
              <a:buNone/>
            </a:pPr>
            <a:r>
              <a:rPr lang="en-US" sz="1150" dirty="0">
                <a:solidFill>
                  <a:srgbClr val="BAC7BC"/>
                </a:solidFill>
              </a:rPr>
              <a:t>94 of 145 mules detected overall</a:t>
            </a:r>
            <a:endParaRPr lang="en-US" sz="1150" dirty="0"/>
          </a:p>
        </p:txBody>
      </p:sp>
      <p:sp>
        <p:nvSpPr>
          <p:cNvPr id="12" name="Card"/>
          <p:cNvSpPr/>
          <p:nvPr/>
        </p:nvSpPr>
        <p:spPr>
          <a:xfrm>
            <a:off x="3246120" y="1783080"/>
            <a:ext cx="2514600" cy="2011680"/>
          </a:xfrm>
          <a:prstGeom prst="roundRect">
            <a:avLst>
              <a:gd name="adj" fmla="val 6364"/>
            </a:avLst>
          </a:prstGeom>
          <a:solidFill>
            <a:srgbClr val="24352B"/>
          </a:solidFill>
          <a:ln/>
        </p:spPr>
      </p:sp>
      <p:sp>
        <p:nvSpPr>
          <p:cNvPr id="13" name="Text 9"/>
          <p:cNvSpPr txBox="1"/>
          <p:nvPr/>
        </p:nvSpPr>
        <p:spPr>
          <a:xfrm>
            <a:off x="3447288" y="1947672"/>
            <a:ext cx="2194560" cy="594360"/>
          </a:xfrm>
          <a:prstGeom prst="rect">
            <a:avLst/>
          </a:prstGeom>
          <a:noFill/>
          <a:ln/>
        </p:spPr>
        <p:txBody>
          <a:bodyPr wrap="square" lIns="0" tIns="0" rIns="0" bIns="0" rtlCol="0" anchor="t"/>
          <a:lstStyle/>
          <a:p>
            <a:pPr indent="0" marL="0">
              <a:buNone/>
            </a:pPr>
            <a:r>
              <a:rPr lang="en-US" sz="3000" b="1" dirty="0">
                <a:solidFill>
                  <a:schemeClr val="accent2"/>
                </a:solidFill>
              </a:rPr>
              <a:t>40.2 h</a:t>
            </a:r>
            <a:endParaRPr lang="en-US" sz="3000" dirty="0"/>
          </a:p>
        </p:txBody>
      </p:sp>
      <p:sp>
        <p:nvSpPr>
          <p:cNvPr id="14" name="Text 10"/>
          <p:cNvSpPr txBox="1"/>
          <p:nvPr/>
        </p:nvSpPr>
        <p:spPr>
          <a:xfrm>
            <a:off x="3447288" y="2587752"/>
            <a:ext cx="2148840" cy="685800"/>
          </a:xfrm>
          <a:prstGeom prst="rect">
            <a:avLst/>
          </a:prstGeom>
          <a:noFill/>
          <a:ln/>
        </p:spPr>
        <p:txBody>
          <a:bodyPr wrap="square" lIns="0" tIns="0" rIns="0" bIns="0" rtlCol="0" anchor="t"/>
          <a:lstStyle/>
          <a:p>
            <a:pPr indent="0" marL="0">
              <a:buNone/>
            </a:pPr>
            <a:r>
              <a:rPr lang="en-US" sz="1350" b="1" dirty="0">
                <a:solidFill>
                  <a:schemeClr val="bg1"/>
                </a:solidFill>
              </a:rPr>
              <a:t>median warning ahead of the victim's report</a:t>
            </a:r>
            <a:endParaRPr lang="en-US" sz="1350" dirty="0"/>
          </a:p>
        </p:txBody>
      </p:sp>
      <p:sp>
        <p:nvSpPr>
          <p:cNvPr id="15" name="Text 11"/>
          <p:cNvSpPr txBox="1"/>
          <p:nvPr/>
        </p:nvSpPr>
        <p:spPr>
          <a:xfrm>
            <a:off x="3447288" y="3264408"/>
            <a:ext cx="2148840" cy="457200"/>
          </a:xfrm>
          <a:prstGeom prst="rect">
            <a:avLst/>
          </a:prstGeom>
          <a:noFill/>
          <a:ln/>
        </p:spPr>
        <p:txBody>
          <a:bodyPr wrap="square" lIns="0" tIns="0" rIns="0" bIns="0" rtlCol="0" anchor="t"/>
          <a:lstStyle/>
          <a:p>
            <a:pPr indent="0" marL="0">
              <a:buNone/>
            </a:pPr>
            <a:r>
              <a:rPr lang="en-US" sz="1150" dirty="0">
                <a:solidFill>
                  <a:srgbClr val="BAC7BC"/>
                </a:solidFill>
              </a:rPr>
              <a:t>time to freeze before the next victim</a:t>
            </a:r>
            <a:endParaRPr lang="en-US" sz="1150" dirty="0"/>
          </a:p>
        </p:txBody>
      </p:sp>
      <p:sp>
        <p:nvSpPr>
          <p:cNvPr id="16" name="Card"/>
          <p:cNvSpPr/>
          <p:nvPr/>
        </p:nvSpPr>
        <p:spPr>
          <a:xfrm>
            <a:off x="548640" y="3977640"/>
            <a:ext cx="2514600" cy="2011680"/>
          </a:xfrm>
          <a:prstGeom prst="roundRect">
            <a:avLst>
              <a:gd name="adj" fmla="val 6364"/>
            </a:avLst>
          </a:prstGeom>
          <a:solidFill>
            <a:srgbClr val="24352B"/>
          </a:solidFill>
          <a:ln/>
        </p:spPr>
      </p:sp>
      <p:sp>
        <p:nvSpPr>
          <p:cNvPr id="17" name="Text 13"/>
          <p:cNvSpPr txBox="1"/>
          <p:nvPr/>
        </p:nvSpPr>
        <p:spPr>
          <a:xfrm>
            <a:off x="749808" y="4142232"/>
            <a:ext cx="2194560" cy="594360"/>
          </a:xfrm>
          <a:prstGeom prst="rect">
            <a:avLst/>
          </a:prstGeom>
          <a:noFill/>
          <a:ln/>
        </p:spPr>
        <p:txBody>
          <a:bodyPr wrap="square" lIns="0" tIns="0" rIns="0" bIns="0" rtlCol="0" anchor="t"/>
          <a:lstStyle/>
          <a:p>
            <a:pPr indent="0" marL="0">
              <a:buNone/>
            </a:pPr>
            <a:r>
              <a:rPr lang="en-US" sz="3000" b="1" dirty="0">
                <a:solidFill>
                  <a:schemeClr val="accent2"/>
                </a:solidFill>
              </a:rPr>
              <a:t>34 rings</a:t>
            </a:r>
            <a:endParaRPr lang="en-US" sz="3000" dirty="0"/>
          </a:p>
        </p:txBody>
      </p:sp>
      <p:sp>
        <p:nvSpPr>
          <p:cNvPr id="18" name="Text 14"/>
          <p:cNvSpPr txBox="1"/>
          <p:nvPr/>
        </p:nvSpPr>
        <p:spPr>
          <a:xfrm>
            <a:off x="749808" y="4782312"/>
            <a:ext cx="2148840" cy="685800"/>
          </a:xfrm>
          <a:prstGeom prst="rect">
            <a:avLst/>
          </a:prstGeom>
          <a:noFill/>
          <a:ln/>
        </p:spPr>
        <p:txBody>
          <a:bodyPr wrap="square" lIns="0" tIns="0" rIns="0" bIns="0" rtlCol="0" anchor="t"/>
          <a:lstStyle/>
          <a:p>
            <a:pPr indent="0" marL="0">
              <a:buNone/>
            </a:pPr>
            <a:r>
              <a:rPr lang="en-US" sz="1350" b="1" dirty="0">
                <a:solidFill>
                  <a:schemeClr val="bg1"/>
                </a:solidFill>
              </a:rPr>
              <a:t>covering 331 wallets, 94% true fraud cells</a:t>
            </a:r>
            <a:endParaRPr lang="en-US" sz="1350" dirty="0"/>
          </a:p>
        </p:txBody>
      </p:sp>
      <p:sp>
        <p:nvSpPr>
          <p:cNvPr id="19" name="Text 15"/>
          <p:cNvSpPr txBox="1"/>
          <p:nvPr/>
        </p:nvSpPr>
        <p:spPr>
          <a:xfrm>
            <a:off x="749808" y="5458968"/>
            <a:ext cx="2148840" cy="457200"/>
          </a:xfrm>
          <a:prstGeom prst="rect">
            <a:avLst/>
          </a:prstGeom>
          <a:noFill/>
          <a:ln/>
        </p:spPr>
        <p:txBody>
          <a:bodyPr wrap="square" lIns="0" tIns="0" rIns="0" bIns="0" rtlCol="0" anchor="t"/>
          <a:lstStyle/>
          <a:p>
            <a:pPr indent="0" marL="0">
              <a:buNone/>
            </a:pPr>
            <a:r>
              <a:rPr lang="en-US" sz="1150" dirty="0">
                <a:solidFill>
                  <a:srgbClr val="BAC7BC"/>
                </a:solidFill>
              </a:rPr>
              <a:t>one case per mule, not per victim</a:t>
            </a:r>
            <a:endParaRPr lang="en-US" sz="1150" dirty="0"/>
          </a:p>
        </p:txBody>
      </p:sp>
      <p:sp>
        <p:nvSpPr>
          <p:cNvPr id="20" name="Card"/>
          <p:cNvSpPr/>
          <p:nvPr/>
        </p:nvSpPr>
        <p:spPr>
          <a:xfrm>
            <a:off x="3246120" y="3977640"/>
            <a:ext cx="2514600" cy="2011680"/>
          </a:xfrm>
          <a:prstGeom prst="roundRect">
            <a:avLst>
              <a:gd name="adj" fmla="val 6364"/>
            </a:avLst>
          </a:prstGeom>
          <a:solidFill>
            <a:srgbClr val="24352B"/>
          </a:solidFill>
          <a:ln/>
        </p:spPr>
      </p:sp>
      <p:sp>
        <p:nvSpPr>
          <p:cNvPr id="21" name="Text 17"/>
          <p:cNvSpPr txBox="1"/>
          <p:nvPr/>
        </p:nvSpPr>
        <p:spPr>
          <a:xfrm>
            <a:off x="3447288" y="4142232"/>
            <a:ext cx="2194560" cy="594360"/>
          </a:xfrm>
          <a:prstGeom prst="rect">
            <a:avLst/>
          </a:prstGeom>
          <a:noFill/>
          <a:ln/>
        </p:spPr>
        <p:txBody>
          <a:bodyPr wrap="square" lIns="0" tIns="0" rIns="0" bIns="0" rtlCol="0" anchor="t"/>
          <a:lstStyle/>
          <a:p>
            <a:pPr indent="0" marL="0">
              <a:buNone/>
            </a:pPr>
            <a:r>
              <a:rPr lang="en-US" sz="3000" b="1" dirty="0">
                <a:solidFill>
                  <a:schemeClr val="accent2"/>
                </a:solidFill>
              </a:rPr>
              <a:t>90.9%</a:t>
            </a:r>
            <a:endParaRPr lang="en-US" sz="3000" dirty="0"/>
          </a:p>
        </p:txBody>
      </p:sp>
      <p:sp>
        <p:nvSpPr>
          <p:cNvPr id="22" name="Text 18"/>
          <p:cNvSpPr txBox="1"/>
          <p:nvPr/>
        </p:nvSpPr>
        <p:spPr>
          <a:xfrm>
            <a:off x="3447288" y="4782312"/>
            <a:ext cx="2148840" cy="685800"/>
          </a:xfrm>
          <a:prstGeom prst="rect">
            <a:avLst/>
          </a:prstGeom>
          <a:noFill/>
          <a:ln/>
        </p:spPr>
        <p:txBody>
          <a:bodyPr wrap="square" lIns="0" tIns="0" rIns="0" bIns="0" rtlCol="0" anchor="t"/>
          <a:lstStyle/>
          <a:p>
            <a:pPr indent="0" marL="0">
              <a:buNone/>
            </a:pPr>
            <a:r>
              <a:rPr lang="en-US" sz="1350" b="1" dirty="0">
                <a:solidFill>
                  <a:schemeClr val="bg1"/>
                </a:solidFill>
              </a:rPr>
              <a:t>precision on agent review list, no labels</a:t>
            </a:r>
            <a:endParaRPr lang="en-US" sz="1350" dirty="0"/>
          </a:p>
        </p:txBody>
      </p:sp>
      <p:sp>
        <p:nvSpPr>
          <p:cNvPr id="23" name="Text 19"/>
          <p:cNvSpPr txBox="1"/>
          <p:nvPr/>
        </p:nvSpPr>
        <p:spPr>
          <a:xfrm>
            <a:off x="3447288" y="5458968"/>
            <a:ext cx="2148840" cy="457200"/>
          </a:xfrm>
          <a:prstGeom prst="rect">
            <a:avLst/>
          </a:prstGeom>
          <a:noFill/>
          <a:ln/>
        </p:spPr>
        <p:txBody>
          <a:bodyPr wrap="square" lIns="0" tIns="0" rIns="0" bIns="0" rtlCol="0" anchor="t"/>
          <a:lstStyle/>
          <a:p>
            <a:pPr indent="0" marL="0">
              <a:buNone/>
            </a:pPr>
            <a:r>
              <a:rPr lang="en-US" sz="1150" dirty="0">
                <a:solidFill>
                  <a:srgbClr val="BAC7BC"/>
                </a:solidFill>
              </a:rPr>
              <a:t>finds every commission-farming agent</a:t>
            </a:r>
            <a:endParaRPr lang="en-US" sz="115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AC7B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p:nvPr/>
        </p:nvSpPr>
        <p:spPr>
          <a:xfrm>
            <a:off x="548640" y="347472"/>
            <a:ext cx="873252" cy="292608"/>
          </a:xfrm>
          <a:prstGeom prst="roundRect">
            <a:avLst>
              <a:gd name="adj" fmla="val 50000"/>
            </a:avLst>
          </a:prstGeom>
          <a:solidFill>
            <a:schemeClr val="accent2"/>
          </a:solidFill>
          <a:ln/>
        </p:spPr>
      </p:sp>
      <p:sp>
        <p:nvSpPr>
          <p:cNvPr id="3" name="Kicker text"/>
          <p:cNvSpPr txBox="1"/>
          <p:nvPr/>
        </p:nvSpPr>
        <p:spPr>
          <a:xfrm>
            <a:off x="548640" y="347472"/>
            <a:ext cx="873252" cy="292608"/>
          </a:xfrm>
          <a:prstGeom prst="rect">
            <a:avLst/>
          </a:prstGeom>
          <a:noFill/>
          <a:ln/>
        </p:spPr>
        <p:txBody>
          <a:bodyPr wrap="square" lIns="0" tIns="0" rIns="0" bIns="0" rtlCol="0" anchor="ctr"/>
          <a:lstStyle/>
          <a:p>
            <a:pPr algn="ctr" indent="0" marL="0">
              <a:buNone/>
            </a:pPr>
            <a:r>
              <a:rPr lang="en-US" sz="1050" b="1" spc="150" kern="0" dirty="0">
                <a:solidFill>
                  <a:schemeClr val="tx2"/>
                </a:solidFill>
              </a:rPr>
              <a:t>RESULTS</a:t>
            </a:r>
            <a:endParaRPr lang="en-US" sz="1050" dirty="0"/>
          </a:p>
        </p:txBody>
      </p:sp>
      <p:sp>
        <p:nvSpPr>
          <p:cNvPr id="4" name="Text 1"/>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The headline numbers</a:t>
            </a:r>
            <a:endParaRPr lang="en-US" sz="3200" dirty="0"/>
          </a:p>
        </p:txBody>
      </p:sp>
      <p:sp>
        <p:nvSpPr>
          <p:cNvPr id="6" name="Card"/>
          <p:cNvSpPr/>
          <p:nvPr/>
        </p:nvSpPr>
        <p:spPr>
          <a:xfrm>
            <a:off x="548640" y="1874520"/>
            <a:ext cx="2057400" cy="2377440"/>
          </a:xfrm>
          <a:prstGeom prst="roundRect">
            <a:avLst>
              <a:gd name="adj" fmla="val 6222"/>
            </a:avLst>
          </a:prstGeom>
          <a:solidFill>
            <a:srgbClr val="24352B"/>
          </a:solidFill>
          <a:ln/>
        </p:spPr>
      </p:sp>
      <p:sp>
        <p:nvSpPr>
          <p:cNvPr id="7" name="Text 4"/>
          <p:cNvSpPr txBox="1"/>
          <p:nvPr/>
        </p:nvSpPr>
        <p:spPr>
          <a:xfrm>
            <a:off x="685800" y="2148840"/>
            <a:ext cx="1783080" cy="868680"/>
          </a:xfrm>
          <a:prstGeom prst="rect">
            <a:avLst/>
          </a:prstGeom>
          <a:noFill/>
          <a:ln/>
        </p:spPr>
        <p:txBody>
          <a:bodyPr wrap="square" lIns="0" tIns="0" rIns="0" bIns="0" rtlCol="0" anchor="ctr">
            <a:normAutofit/>
          </a:bodyPr>
          <a:lstStyle/>
          <a:p>
            <a:pPr algn="ctr" indent="0" marL="0">
              <a:buNone/>
            </a:pPr>
            <a:r>
              <a:rPr lang="en-US" sz="3600" b="1" dirty="0">
                <a:solidFill>
                  <a:schemeClr val="bg1"/>
                </a:solidFill>
              </a:rPr>
              <a:t>1.45M</a:t>
            </a:r>
            <a:endParaRPr lang="en-US" sz="3600" dirty="0"/>
          </a:p>
        </p:txBody>
      </p:sp>
      <p:sp>
        <p:nvSpPr>
          <p:cNvPr id="8" name="Text 5"/>
          <p:cNvSpPr txBox="1"/>
          <p:nvPr/>
        </p:nvSpPr>
        <p:spPr>
          <a:xfrm>
            <a:off x="685800" y="3108960"/>
            <a:ext cx="1783080" cy="868680"/>
          </a:xfrm>
          <a:prstGeom prst="rect">
            <a:avLst/>
          </a:prstGeom>
          <a:noFill/>
          <a:ln/>
        </p:spPr>
        <p:txBody>
          <a:bodyPr wrap="square" lIns="0" tIns="0" rIns="0" bIns="0" rtlCol="0" anchor="t"/>
          <a:lstStyle/>
          <a:p>
            <a:pPr algn="ctr" indent="0" marL="0">
              <a:buNone/>
            </a:pPr>
            <a:r>
              <a:rPr lang="en-US" sz="1350" dirty="0">
                <a:solidFill>
                  <a:srgbClr val="CFDACF"/>
                </a:solidFill>
              </a:rPr>
              <a:t>simulated transactions</a:t>
            </a:r>
            <a:endParaRPr lang="en-US" sz="1350" dirty="0"/>
          </a:p>
          <a:p>
            <a:pPr algn="ctr" indent="0" marL="0">
              <a:buNone/>
            </a:pPr>
            <a:r>
              <a:rPr lang="en-US" sz="1350" dirty="0">
                <a:solidFill>
                  <a:srgbClr val="CFDACF"/>
                </a:solidFill>
              </a:rPr>
              <a:t>over 120 days</a:t>
            </a:r>
            <a:endParaRPr lang="en-US" sz="1350" dirty="0"/>
          </a:p>
        </p:txBody>
      </p:sp>
      <p:sp>
        <p:nvSpPr>
          <p:cNvPr id="9" name="Card"/>
          <p:cNvSpPr/>
          <p:nvPr/>
        </p:nvSpPr>
        <p:spPr>
          <a:xfrm>
            <a:off x="2798064" y="1874520"/>
            <a:ext cx="2057400" cy="2377440"/>
          </a:xfrm>
          <a:prstGeom prst="roundRect">
            <a:avLst>
              <a:gd name="adj" fmla="val 6222"/>
            </a:avLst>
          </a:prstGeom>
          <a:solidFill>
            <a:schemeClr val="accent2"/>
          </a:solidFill>
          <a:ln/>
        </p:spPr>
      </p:sp>
      <p:sp>
        <p:nvSpPr>
          <p:cNvPr id="10" name="Text 7"/>
          <p:cNvSpPr txBox="1"/>
          <p:nvPr/>
        </p:nvSpPr>
        <p:spPr>
          <a:xfrm>
            <a:off x="2935224" y="2148840"/>
            <a:ext cx="1783080" cy="868680"/>
          </a:xfrm>
          <a:prstGeom prst="rect">
            <a:avLst/>
          </a:prstGeom>
          <a:noFill/>
          <a:ln/>
        </p:spPr>
        <p:txBody>
          <a:bodyPr wrap="square" lIns="0" tIns="0" rIns="0" bIns="0" rtlCol="0" anchor="ctr">
            <a:normAutofit/>
          </a:bodyPr>
          <a:lstStyle/>
          <a:p>
            <a:pPr algn="ctr" indent="0" marL="0">
              <a:buNone/>
            </a:pPr>
            <a:r>
              <a:rPr lang="en-US" sz="3600" b="1" dirty="0">
                <a:solidFill>
                  <a:schemeClr val="tx2"/>
                </a:solidFill>
              </a:rPr>
              <a:t>86.9%</a:t>
            </a:r>
            <a:endParaRPr lang="en-US" sz="3600" dirty="0"/>
          </a:p>
        </p:txBody>
      </p:sp>
      <p:sp>
        <p:nvSpPr>
          <p:cNvPr id="11" name="Text 8"/>
          <p:cNvSpPr txBox="1"/>
          <p:nvPr/>
        </p:nvSpPr>
        <p:spPr>
          <a:xfrm>
            <a:off x="2935224" y="3108960"/>
            <a:ext cx="1783080" cy="868680"/>
          </a:xfrm>
          <a:prstGeom prst="rect">
            <a:avLst/>
          </a:prstGeom>
          <a:noFill/>
          <a:ln/>
        </p:spPr>
        <p:txBody>
          <a:bodyPr wrap="square" lIns="0" tIns="0" rIns="0" bIns="0" rtlCol="0" anchor="t"/>
          <a:lstStyle/>
          <a:p>
            <a:pPr algn="ctr" indent="0" marL="0">
              <a:buNone/>
            </a:pPr>
            <a:r>
              <a:rPr lang="en-US" sz="1350" dirty="0">
                <a:solidFill>
                  <a:schemeClr val="tx2"/>
                </a:solidFill>
              </a:rPr>
              <a:t>of scams caught at</a:t>
            </a:r>
            <a:endParaRPr lang="en-US" sz="1350" dirty="0"/>
          </a:p>
          <a:p>
            <a:pPr algn="ctr" indent="0" marL="0">
              <a:buNone/>
            </a:pPr>
            <a:r>
              <a:rPr lang="en-US" sz="1350" dirty="0">
                <a:solidFill>
                  <a:schemeClr val="tx2"/>
                </a:solidFill>
              </a:rPr>
              <a:t>the warning tier</a:t>
            </a:r>
            <a:endParaRPr lang="en-US" sz="1350" dirty="0"/>
          </a:p>
        </p:txBody>
      </p:sp>
      <p:sp>
        <p:nvSpPr>
          <p:cNvPr id="12" name="Card"/>
          <p:cNvSpPr/>
          <p:nvPr/>
        </p:nvSpPr>
        <p:spPr>
          <a:xfrm>
            <a:off x="5047488" y="1874520"/>
            <a:ext cx="2057400" cy="2377440"/>
          </a:xfrm>
          <a:prstGeom prst="roundRect">
            <a:avLst>
              <a:gd name="adj" fmla="val 6222"/>
            </a:avLst>
          </a:prstGeom>
          <a:solidFill>
            <a:srgbClr val="24352B"/>
          </a:solidFill>
          <a:ln/>
        </p:spPr>
      </p:sp>
      <p:sp>
        <p:nvSpPr>
          <p:cNvPr id="13" name="Text 10"/>
          <p:cNvSpPr txBox="1"/>
          <p:nvPr/>
        </p:nvSpPr>
        <p:spPr>
          <a:xfrm>
            <a:off x="5184648" y="2148840"/>
            <a:ext cx="1783080" cy="868680"/>
          </a:xfrm>
          <a:prstGeom prst="rect">
            <a:avLst/>
          </a:prstGeom>
          <a:noFill/>
          <a:ln/>
        </p:spPr>
        <p:txBody>
          <a:bodyPr wrap="square" lIns="0" tIns="0" rIns="0" bIns="0" rtlCol="0" anchor="ctr">
            <a:normAutofit/>
          </a:bodyPr>
          <a:lstStyle/>
          <a:p>
            <a:pPr algn="ctr" indent="0" marL="0">
              <a:buNone/>
            </a:pPr>
            <a:r>
              <a:rPr lang="en-US" sz="3600" b="1" dirty="0">
                <a:solidFill>
                  <a:schemeClr val="bg1"/>
                </a:solidFill>
              </a:rPr>
              <a:t>0.53%</a:t>
            </a:r>
            <a:endParaRPr lang="en-US" sz="3600" dirty="0"/>
          </a:p>
        </p:txBody>
      </p:sp>
      <p:sp>
        <p:nvSpPr>
          <p:cNvPr id="14" name="Text 11"/>
          <p:cNvSpPr txBox="1"/>
          <p:nvPr/>
        </p:nvSpPr>
        <p:spPr>
          <a:xfrm>
            <a:off x="5184648" y="3108960"/>
            <a:ext cx="1783080" cy="868680"/>
          </a:xfrm>
          <a:prstGeom prst="rect">
            <a:avLst/>
          </a:prstGeom>
          <a:noFill/>
          <a:ln/>
        </p:spPr>
        <p:txBody>
          <a:bodyPr wrap="square" lIns="0" tIns="0" rIns="0" bIns="0" rtlCol="0" anchor="t"/>
          <a:lstStyle/>
          <a:p>
            <a:pPr algn="ctr" indent="0" marL="0">
              <a:buNone/>
            </a:pPr>
            <a:r>
              <a:rPr lang="en-US" sz="1350" dirty="0">
                <a:solidFill>
                  <a:srgbClr val="CFDACF"/>
                </a:solidFill>
              </a:rPr>
              <a:t>of honest payments</a:t>
            </a:r>
            <a:endParaRPr lang="en-US" sz="1350" dirty="0"/>
          </a:p>
          <a:p>
            <a:pPr algn="ctr" indent="0" marL="0">
              <a:buNone/>
            </a:pPr>
            <a:r>
              <a:rPr lang="en-US" sz="1350" dirty="0">
                <a:solidFill>
                  <a:srgbClr val="CFDACF"/>
                </a:solidFill>
              </a:rPr>
              <a:t>interrupted</a:t>
            </a:r>
            <a:endParaRPr lang="en-US" sz="1350" dirty="0"/>
          </a:p>
        </p:txBody>
      </p:sp>
      <p:sp>
        <p:nvSpPr>
          <p:cNvPr id="15" name="Card"/>
          <p:cNvSpPr/>
          <p:nvPr/>
        </p:nvSpPr>
        <p:spPr>
          <a:xfrm>
            <a:off x="7296912" y="1874520"/>
            <a:ext cx="2057400" cy="2377440"/>
          </a:xfrm>
          <a:prstGeom prst="roundRect">
            <a:avLst>
              <a:gd name="adj" fmla="val 6222"/>
            </a:avLst>
          </a:prstGeom>
          <a:solidFill>
            <a:srgbClr val="24352B"/>
          </a:solidFill>
          <a:ln/>
        </p:spPr>
      </p:sp>
      <p:sp>
        <p:nvSpPr>
          <p:cNvPr id="16" name="Text 13"/>
          <p:cNvSpPr txBox="1"/>
          <p:nvPr/>
        </p:nvSpPr>
        <p:spPr>
          <a:xfrm>
            <a:off x="7434072" y="2148840"/>
            <a:ext cx="1783080" cy="868680"/>
          </a:xfrm>
          <a:prstGeom prst="rect">
            <a:avLst/>
          </a:prstGeom>
          <a:noFill/>
          <a:ln/>
        </p:spPr>
        <p:txBody>
          <a:bodyPr wrap="square" lIns="0" tIns="0" rIns="0" bIns="0" rtlCol="0" anchor="ctr">
            <a:normAutofit/>
          </a:bodyPr>
          <a:lstStyle/>
          <a:p>
            <a:pPr algn="ctr" indent="0" marL="0">
              <a:buNone/>
            </a:pPr>
            <a:r>
              <a:rPr lang="en-US" sz="3600" b="1" dirty="0">
                <a:solidFill>
                  <a:schemeClr val="bg1"/>
                </a:solidFill>
              </a:rPr>
              <a:t>3.4 ms</a:t>
            </a:r>
            <a:endParaRPr lang="en-US" sz="3600" dirty="0"/>
          </a:p>
        </p:txBody>
      </p:sp>
      <p:sp>
        <p:nvSpPr>
          <p:cNvPr id="17" name="Text 14"/>
          <p:cNvSpPr txBox="1"/>
          <p:nvPr/>
        </p:nvSpPr>
        <p:spPr>
          <a:xfrm>
            <a:off x="7434072" y="3108960"/>
            <a:ext cx="1783080" cy="868680"/>
          </a:xfrm>
          <a:prstGeom prst="rect">
            <a:avLst/>
          </a:prstGeom>
          <a:noFill/>
          <a:ln/>
        </p:spPr>
        <p:txBody>
          <a:bodyPr wrap="square" lIns="0" tIns="0" rIns="0" bIns="0" rtlCol="0" anchor="t"/>
          <a:lstStyle/>
          <a:p>
            <a:pPr algn="ctr" indent="0" marL="0">
              <a:buNone/>
            </a:pPr>
            <a:r>
              <a:rPr lang="en-US" sz="1350" dirty="0">
                <a:solidFill>
                  <a:srgbClr val="CFDACF"/>
                </a:solidFill>
              </a:rPr>
              <a:t>p95 to score, decide</a:t>
            </a:r>
            <a:endParaRPr lang="en-US" sz="1350" dirty="0"/>
          </a:p>
          <a:p>
            <a:pPr algn="ctr" indent="0" marL="0">
              <a:buNone/>
            </a:pPr>
            <a:r>
              <a:rPr lang="en-US" sz="1350" dirty="0">
                <a:solidFill>
                  <a:srgbClr val="CFDACF"/>
                </a:solidFill>
              </a:rPr>
              <a:t>and explain</a:t>
            </a:r>
            <a:endParaRPr lang="en-US" sz="1350" dirty="0"/>
          </a:p>
        </p:txBody>
      </p:sp>
      <p:sp>
        <p:nvSpPr>
          <p:cNvPr id="18" name="Card"/>
          <p:cNvSpPr/>
          <p:nvPr/>
        </p:nvSpPr>
        <p:spPr>
          <a:xfrm>
            <a:off x="9546336" y="1874520"/>
            <a:ext cx="2057400" cy="2377440"/>
          </a:xfrm>
          <a:prstGeom prst="roundRect">
            <a:avLst>
              <a:gd name="adj" fmla="val 6222"/>
            </a:avLst>
          </a:prstGeom>
          <a:solidFill>
            <a:srgbClr val="24352B"/>
          </a:solidFill>
          <a:ln/>
        </p:spPr>
      </p:sp>
      <p:sp>
        <p:nvSpPr>
          <p:cNvPr id="19" name="Text 16"/>
          <p:cNvSpPr txBox="1"/>
          <p:nvPr/>
        </p:nvSpPr>
        <p:spPr>
          <a:xfrm>
            <a:off x="9683496" y="2148840"/>
            <a:ext cx="1783080" cy="868680"/>
          </a:xfrm>
          <a:prstGeom prst="rect">
            <a:avLst/>
          </a:prstGeom>
          <a:noFill/>
          <a:ln/>
        </p:spPr>
        <p:txBody>
          <a:bodyPr wrap="square" lIns="0" tIns="0" rIns="0" bIns="0" rtlCol="0" anchor="ctr">
            <a:normAutofit/>
          </a:bodyPr>
          <a:lstStyle/>
          <a:p>
            <a:pPr algn="ctr" indent="0" marL="0">
              <a:buNone/>
            </a:pPr>
            <a:r>
              <a:rPr lang="en-US" sz="3600" b="1" dirty="0">
                <a:solidFill>
                  <a:schemeClr val="bg1"/>
                </a:solidFill>
              </a:rPr>
              <a:t>0</a:t>
            </a:r>
            <a:endParaRPr lang="en-US" sz="3600" dirty="0"/>
          </a:p>
        </p:txBody>
      </p:sp>
      <p:sp>
        <p:nvSpPr>
          <p:cNvPr id="20" name="Text 17"/>
          <p:cNvSpPr txBox="1"/>
          <p:nvPr/>
        </p:nvSpPr>
        <p:spPr>
          <a:xfrm>
            <a:off x="9683496" y="3108960"/>
            <a:ext cx="1783080" cy="868680"/>
          </a:xfrm>
          <a:prstGeom prst="rect">
            <a:avLst/>
          </a:prstGeom>
          <a:noFill/>
          <a:ln/>
        </p:spPr>
        <p:txBody>
          <a:bodyPr wrap="square" lIns="0" tIns="0" rIns="0" bIns="0" rtlCol="0" anchor="t"/>
          <a:lstStyle/>
          <a:p>
            <a:pPr algn="ctr" indent="0" marL="0">
              <a:buNone/>
            </a:pPr>
            <a:r>
              <a:rPr lang="en-US" sz="1350" dirty="0">
                <a:solidFill>
                  <a:srgbClr val="CFDACF"/>
                </a:solidFill>
              </a:rPr>
              <a:t>differences between</a:t>
            </a:r>
            <a:endParaRPr lang="en-US" sz="1350" dirty="0"/>
          </a:p>
          <a:p>
            <a:pPr algn="ctr" indent="0" marL="0">
              <a:buNone/>
            </a:pPr>
            <a:r>
              <a:rPr lang="en-US" sz="1350" dirty="0">
                <a:solidFill>
                  <a:srgbClr val="CFDACF"/>
                </a:solidFill>
              </a:rPr>
              <a:t>served and evaluated</a:t>
            </a:r>
            <a:endParaRPr lang="en-US" sz="1350" dirty="0"/>
          </a:p>
        </p:txBody>
      </p:sp>
      <p:sp>
        <p:nvSpPr>
          <p:cNvPr id="21" name="Card"/>
          <p:cNvSpPr/>
          <p:nvPr/>
        </p:nvSpPr>
        <p:spPr>
          <a:xfrm>
            <a:off x="548640" y="4617720"/>
            <a:ext cx="11064240" cy="1371600"/>
          </a:xfrm>
          <a:prstGeom prst="roundRect">
            <a:avLst>
              <a:gd name="adj" fmla="val 9333"/>
            </a:avLst>
          </a:prstGeom>
          <a:solidFill>
            <a:srgbClr val="24352B"/>
          </a:solidFill>
          <a:ln/>
        </p:spPr>
      </p:sp>
      <p:sp>
        <p:nvSpPr>
          <p:cNvPr id="22" name="Text 19"/>
          <p:cNvSpPr txBox="1"/>
          <p:nvPr/>
        </p:nvSpPr>
        <p:spPr>
          <a:xfrm>
            <a:off x="822960" y="4773168"/>
            <a:ext cx="2560320" cy="457200"/>
          </a:xfrm>
          <a:prstGeom prst="rect">
            <a:avLst/>
          </a:prstGeom>
          <a:noFill/>
          <a:ln/>
        </p:spPr>
        <p:txBody>
          <a:bodyPr wrap="square" lIns="0" tIns="0" rIns="0" bIns="0" rtlCol="0" anchor="t"/>
          <a:lstStyle/>
          <a:p>
            <a:pPr indent="0" marL="0">
              <a:buNone/>
            </a:pPr>
            <a:r>
              <a:rPr lang="en-US" sz="2200" b="1" dirty="0">
                <a:solidFill>
                  <a:schemeClr val="accent2"/>
                </a:solidFill>
              </a:rPr>
              <a:t>134,545</a:t>
            </a:r>
            <a:endParaRPr lang="en-US" sz="2200" dirty="0"/>
          </a:p>
        </p:txBody>
      </p:sp>
      <p:sp>
        <p:nvSpPr>
          <p:cNvPr id="23" name="Text 20"/>
          <p:cNvSpPr txBox="1"/>
          <p:nvPr/>
        </p:nvSpPr>
        <p:spPr>
          <a:xfrm>
            <a:off x="822960" y="5230368"/>
            <a:ext cx="2514600" cy="640080"/>
          </a:xfrm>
          <a:prstGeom prst="rect">
            <a:avLst/>
          </a:prstGeom>
          <a:noFill/>
          <a:ln/>
        </p:spPr>
        <p:txBody>
          <a:bodyPr wrap="square" lIns="0" tIns="0" rIns="0" bIns="0" rtlCol="0" anchor="t"/>
          <a:lstStyle/>
          <a:p>
            <a:pPr indent="0" marL="0">
              <a:buNone/>
            </a:pPr>
            <a:r>
              <a:rPr lang="en-US" sz="1200" dirty="0">
                <a:solidFill>
                  <a:srgbClr val="CFDACF"/>
                </a:solidFill>
              </a:rPr>
              <a:t>payments in the test period</a:t>
            </a:r>
            <a:endParaRPr lang="en-US" sz="1200" dirty="0"/>
          </a:p>
        </p:txBody>
      </p:sp>
      <p:sp>
        <p:nvSpPr>
          <p:cNvPr id="24" name="Text 21"/>
          <p:cNvSpPr txBox="1"/>
          <p:nvPr/>
        </p:nvSpPr>
        <p:spPr>
          <a:xfrm>
            <a:off x="3566160" y="4773168"/>
            <a:ext cx="2560320" cy="457200"/>
          </a:xfrm>
          <a:prstGeom prst="rect">
            <a:avLst/>
          </a:prstGeom>
          <a:noFill/>
          <a:ln/>
        </p:spPr>
        <p:txBody>
          <a:bodyPr wrap="square" lIns="0" tIns="0" rIns="0" bIns="0" rtlCol="0" anchor="t"/>
          <a:lstStyle/>
          <a:p>
            <a:pPr indent="0" marL="0">
              <a:buNone/>
            </a:pPr>
            <a:r>
              <a:rPr lang="bn-BD" altLang="en-US" sz="2200" b="1" dirty="0">
                <a:solidFill>
                  <a:schemeClr val="accent2"/>
                </a:solidFill>
                <a:latin typeface="Baloo Da 2" pitchFamily="34" charset="0"/>
                <a:ea typeface="Baloo Da 2" pitchFamily="34" charset="-122"/>
                <a:cs typeface="Baloo Da 2" pitchFamily="34" charset="-120"/>
              </a:rPr>
              <a:t>৳35.5 lakh</a:t>
            </a:r>
            <a:endParaRPr lang="bn-BD" sz="2200" dirty="0"/>
          </a:p>
        </p:txBody>
      </p:sp>
      <p:sp>
        <p:nvSpPr>
          <p:cNvPr id="25" name="Text 22"/>
          <p:cNvSpPr txBox="1"/>
          <p:nvPr/>
        </p:nvSpPr>
        <p:spPr>
          <a:xfrm>
            <a:off x="3566160" y="5230368"/>
            <a:ext cx="2514600" cy="640080"/>
          </a:xfrm>
          <a:prstGeom prst="rect">
            <a:avLst/>
          </a:prstGeom>
          <a:noFill/>
          <a:ln/>
        </p:spPr>
        <p:txBody>
          <a:bodyPr wrap="square" lIns="0" tIns="0" rIns="0" bIns="0" rtlCol="0" anchor="t"/>
          <a:lstStyle/>
          <a:p>
            <a:pPr indent="0" marL="0">
              <a:buNone/>
            </a:pPr>
            <a:r>
              <a:rPr lang="en-US" sz="1200" dirty="0">
                <a:solidFill>
                  <a:srgbClr val="CFDACF"/>
                </a:solidFill>
              </a:rPr>
              <a:t>at risk in the test period</a:t>
            </a:r>
            <a:endParaRPr lang="en-US" sz="1200" dirty="0"/>
          </a:p>
        </p:txBody>
      </p:sp>
      <p:sp>
        <p:nvSpPr>
          <p:cNvPr id="26" name="Text 23"/>
          <p:cNvSpPr txBox="1"/>
          <p:nvPr/>
        </p:nvSpPr>
        <p:spPr>
          <a:xfrm>
            <a:off x="6309360" y="4773168"/>
            <a:ext cx="2560320" cy="457200"/>
          </a:xfrm>
          <a:prstGeom prst="rect">
            <a:avLst/>
          </a:prstGeom>
          <a:noFill/>
          <a:ln/>
        </p:spPr>
        <p:txBody>
          <a:bodyPr wrap="square" lIns="0" tIns="0" rIns="0" bIns="0" rtlCol="0" anchor="t"/>
          <a:lstStyle/>
          <a:p>
            <a:pPr indent="0" marL="0">
              <a:buNone/>
            </a:pPr>
            <a:r>
              <a:rPr lang="en-US" sz="2200" b="1" dirty="0">
                <a:solidFill>
                  <a:schemeClr val="accent2"/>
                </a:solidFill>
              </a:rPr>
              <a:t>96.6%</a:t>
            </a:r>
            <a:endParaRPr lang="en-US" sz="2200" dirty="0"/>
          </a:p>
        </p:txBody>
      </p:sp>
      <p:sp>
        <p:nvSpPr>
          <p:cNvPr id="27" name="Text 24"/>
          <p:cNvSpPr txBox="1"/>
          <p:nvPr/>
        </p:nvSpPr>
        <p:spPr>
          <a:xfrm>
            <a:off x="6309360" y="5230368"/>
            <a:ext cx="2514600" cy="640080"/>
          </a:xfrm>
          <a:prstGeom prst="rect">
            <a:avLst/>
          </a:prstGeom>
          <a:noFill/>
          <a:ln/>
        </p:spPr>
        <p:txBody>
          <a:bodyPr wrap="square" lIns="0" tIns="0" rIns="0" bIns="0" rtlCol="0" anchor="t"/>
          <a:lstStyle/>
          <a:p>
            <a:pPr indent="0" marL="0">
              <a:buNone/>
            </a:pPr>
            <a:r>
              <a:rPr lang="en-US" sz="1200" dirty="0">
                <a:solidFill>
                  <a:srgbClr val="CFDACF"/>
                </a:solidFill>
              </a:rPr>
              <a:t>of victims' money stopped at warn+ (incl. cash-out holds)</a:t>
            </a:r>
            <a:endParaRPr lang="en-US" sz="1200" dirty="0"/>
          </a:p>
        </p:txBody>
      </p:sp>
      <p:sp>
        <p:nvSpPr>
          <p:cNvPr id="28" name="Text 25"/>
          <p:cNvSpPr txBox="1"/>
          <p:nvPr/>
        </p:nvSpPr>
        <p:spPr>
          <a:xfrm>
            <a:off x="9052560" y="4773168"/>
            <a:ext cx="2560320" cy="457200"/>
          </a:xfrm>
          <a:prstGeom prst="rect">
            <a:avLst/>
          </a:prstGeom>
          <a:noFill/>
          <a:ln/>
        </p:spPr>
        <p:txBody>
          <a:bodyPr wrap="square" lIns="0" tIns="0" rIns="0" bIns="0" rtlCol="0" anchor="t"/>
          <a:lstStyle/>
          <a:p>
            <a:pPr indent="0" marL="0">
              <a:buNone/>
            </a:pPr>
            <a:r>
              <a:rPr lang="en-US" sz="2200" b="1" dirty="0">
                <a:solidFill>
                  <a:schemeClr val="accent2"/>
                </a:solidFill>
              </a:rPr>
              <a:t>98.5%</a:t>
            </a:r>
            <a:endParaRPr lang="en-US" sz="2200" dirty="0"/>
          </a:p>
        </p:txBody>
      </p:sp>
      <p:sp>
        <p:nvSpPr>
          <p:cNvPr id="29" name="Text 26"/>
          <p:cNvSpPr txBox="1"/>
          <p:nvPr/>
        </p:nvSpPr>
        <p:spPr>
          <a:xfrm>
            <a:off x="9052560" y="5230368"/>
            <a:ext cx="2514600" cy="640080"/>
          </a:xfrm>
          <a:prstGeom prst="rect">
            <a:avLst/>
          </a:prstGeom>
          <a:noFill/>
          <a:ln/>
        </p:spPr>
        <p:txBody>
          <a:bodyPr wrap="square" lIns="0" tIns="0" rIns="0" bIns="0" rtlCol="0" anchor="t"/>
          <a:lstStyle/>
          <a:p>
            <a:pPr indent="0" marL="0">
              <a:buNone/>
            </a:pPr>
            <a:r>
              <a:rPr lang="en-US" sz="1200" dirty="0">
                <a:solidFill>
                  <a:srgbClr val="CFDACF"/>
                </a:solidFill>
              </a:rPr>
              <a:t>of payments never interrupted</a:t>
            </a:r>
            <a:endParaRPr lang="en-US" sz="120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AC7B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p:nvPr/>
        </p:nvSpPr>
        <p:spPr>
          <a:xfrm>
            <a:off x="548640" y="347472"/>
            <a:ext cx="873252" cy="292608"/>
          </a:xfrm>
          <a:prstGeom prst="roundRect">
            <a:avLst>
              <a:gd name="adj" fmla="val 50000"/>
            </a:avLst>
          </a:prstGeom>
          <a:solidFill>
            <a:schemeClr val="accent2"/>
          </a:solidFill>
          <a:ln/>
        </p:spPr>
      </p:sp>
      <p:sp>
        <p:nvSpPr>
          <p:cNvPr id="3" name="Kicker text"/>
          <p:cNvSpPr txBox="1"/>
          <p:nvPr/>
        </p:nvSpPr>
        <p:spPr>
          <a:xfrm>
            <a:off x="548640" y="347472"/>
            <a:ext cx="873252" cy="292608"/>
          </a:xfrm>
          <a:prstGeom prst="rect">
            <a:avLst/>
          </a:prstGeom>
          <a:noFill/>
          <a:ln/>
        </p:spPr>
        <p:txBody>
          <a:bodyPr wrap="square" lIns="0" tIns="0" rIns="0" bIns="0" rtlCol="0" anchor="ctr"/>
          <a:lstStyle/>
          <a:p>
            <a:pPr algn="ctr" indent="0" marL="0">
              <a:buNone/>
            </a:pPr>
            <a:r>
              <a:rPr lang="en-US" sz="1050" b="1" spc="150" kern="0" dirty="0">
                <a:solidFill>
                  <a:schemeClr val="tx2"/>
                </a:solidFill>
              </a:rPr>
              <a:t>RESULTS</a:t>
            </a:r>
            <a:endParaRPr lang="en-US" sz="1050" dirty="0"/>
          </a:p>
        </p:txBody>
      </p:sp>
      <p:sp>
        <p:nvSpPr>
          <p:cNvPr id="4" name="Text 1"/>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11× better ranking than hand-written rules</a:t>
            </a:r>
            <a:endParaRPr lang="en-US" sz="3200" dirty="0"/>
          </a:p>
        </p:txBody>
      </p:sp>
      <p:sp>
        <p:nvSpPr>
          <p:cNvPr id="6" name="Chart card"/>
          <p:cNvSpPr/>
          <p:nvPr/>
        </p:nvSpPr>
        <p:spPr>
          <a:xfrm>
            <a:off x="548640" y="1783080"/>
            <a:ext cx="7315200" cy="4343400"/>
          </a:xfrm>
          <a:prstGeom prst="roundRect">
            <a:avLst>
              <a:gd name="adj" fmla="val 2947"/>
            </a:avLst>
          </a:prstGeom>
          <a:solidFill>
            <a:schemeClr val="bg1"/>
          </a:solidFill>
          <a:ln w="12700">
            <a:solidFill>
              <a:srgbClr val="DDE5DA"/>
            </a:solidFill>
            <a:prstDash val="solid"/>
          </a:ln>
          <a:effectLst>
            <a:outerShdw sx="100000" sy="100000" kx="0" ky="0" algn="bl" rotWithShape="0" blurRad="127000" dist="38100" dir="5400000">
              <a:srgbClr val="16231C">
                <a:alpha val="14000"/>
              </a:srgbClr>
            </a:outerShdw>
          </a:effectLst>
        </p:spPr>
      </p:sp>
      <p:sp>
        <p:nvSpPr>
          <p:cNvPr id="7" name="Text 4"/>
          <p:cNvSpPr txBox="1"/>
          <p:nvPr/>
        </p:nvSpPr>
        <p:spPr>
          <a:xfrm>
            <a:off x="822960" y="1965960"/>
            <a:ext cx="6766560" cy="320040"/>
          </a:xfrm>
          <a:prstGeom prst="rect">
            <a:avLst/>
          </a:prstGeom>
          <a:noFill/>
          <a:ln/>
        </p:spPr>
        <p:txBody>
          <a:bodyPr wrap="square" lIns="0" tIns="0" rIns="0" bIns="0" rtlCol="0" anchor="t"/>
          <a:lstStyle/>
          <a:p>
            <a:pPr indent="0" marL="0">
              <a:buNone/>
            </a:pPr>
            <a:r>
              <a:rPr lang="en-US" sz="1400" b="1" dirty="0">
                <a:solidFill>
                  <a:schemeClr val="tx2"/>
                </a:solidFill>
              </a:rPr>
              <a:t>Ranking quality (PR-AUC), test period  ·  higher is better</a:t>
            </a:r>
            <a:endParaRPr lang="en-US" sz="1400" dirty="0"/>
          </a:p>
        </p:txBody>
      </p:sp>
      <p:sp>
        <p:nvSpPr>
          <p:cNvPr id="8" name="Icon circle"/>
          <p:cNvSpPr/>
          <p:nvPr/>
        </p:nvSpPr>
        <p:spPr>
          <a:xfrm>
            <a:off x="822960" y="2514600"/>
            <a:ext cx="457200" cy="457200"/>
          </a:xfrm>
          <a:prstGeom prst="ellipse">
            <a:avLst/>
          </a:prstGeom>
          <a:solidFill>
            <a:srgbClr val="FDECEC"/>
          </a:solidFill>
          <a:ln/>
        </p:spPr>
      </p:sp>
      <p:pic>
        <p:nvPicPr>
          <p:cNvPr id="9" name="Icon FaClipboardList" descr="preencoded.png">    </p:cNvPr>
          <p:cNvPicPr>
            <a:picLocks noChangeAspect="1"/>
          </p:cNvPicPr>
          <p:nvPr/>
        </p:nvPicPr>
        <p:blipFill>
          <a:blip r:embed="rId1"/>
          <a:stretch>
            <a:fillRect/>
          </a:stretch>
        </p:blipFill>
        <p:spPr>
          <a:xfrm>
            <a:off x="937260" y="2628900"/>
            <a:ext cx="228600" cy="228600"/>
          </a:xfrm>
          <a:prstGeom prst="rect">
            <a:avLst/>
          </a:prstGeom>
        </p:spPr>
      </p:pic>
      <p:sp>
        <p:nvSpPr>
          <p:cNvPr id="10" name="Text 6"/>
          <p:cNvSpPr txBox="1"/>
          <p:nvPr/>
        </p:nvSpPr>
        <p:spPr>
          <a:xfrm>
            <a:off x="1417320" y="2514600"/>
            <a:ext cx="1874520" cy="457200"/>
          </a:xfrm>
          <a:prstGeom prst="rect">
            <a:avLst/>
          </a:prstGeom>
          <a:noFill/>
          <a:ln/>
        </p:spPr>
        <p:txBody>
          <a:bodyPr wrap="square" lIns="0" tIns="0" rIns="0" bIns="0" rtlCol="0" anchor="ctr"/>
          <a:lstStyle/>
          <a:p>
            <a:pPr indent="0" marL="0">
              <a:buNone/>
            </a:pPr>
            <a:r>
              <a:rPr lang="en-US" sz="1250" dirty="0">
                <a:solidFill>
                  <a:schemeClr val="tx2"/>
                </a:solidFill>
              </a:rPr>
              <a:t>Hand-written rules</a:t>
            </a:r>
            <a:endParaRPr lang="en-US" sz="1250" dirty="0"/>
          </a:p>
        </p:txBody>
      </p:sp>
      <p:sp>
        <p:nvSpPr>
          <p:cNvPr id="11" name="Bar track"/>
          <p:cNvSpPr/>
          <p:nvPr/>
        </p:nvSpPr>
        <p:spPr>
          <a:xfrm>
            <a:off x="3337560" y="2606040"/>
            <a:ext cx="3566160" cy="274320"/>
          </a:xfrm>
          <a:prstGeom prst="roundRect">
            <a:avLst>
              <a:gd name="adj" fmla="val 50000"/>
            </a:avLst>
          </a:prstGeom>
          <a:solidFill>
            <a:srgbClr val="EEF2ED"/>
          </a:solidFill>
          <a:ln/>
        </p:spPr>
      </p:sp>
      <p:sp>
        <p:nvSpPr>
          <p:cNvPr id="12" name="Bar Hand-written rules"/>
          <p:cNvSpPr/>
          <p:nvPr/>
        </p:nvSpPr>
        <p:spPr>
          <a:xfrm>
            <a:off x="3337560" y="2606040"/>
            <a:ext cx="274320" cy="274320"/>
          </a:xfrm>
          <a:prstGeom prst="roundRect">
            <a:avLst>
              <a:gd name="adj" fmla="val 50000"/>
            </a:avLst>
          </a:prstGeom>
          <a:solidFill>
            <a:srgbClr val="E5484D"/>
          </a:solidFill>
          <a:ln/>
        </p:spPr>
      </p:sp>
      <p:sp>
        <p:nvSpPr>
          <p:cNvPr id="13" name="Text 9"/>
          <p:cNvSpPr txBox="1"/>
          <p:nvPr/>
        </p:nvSpPr>
        <p:spPr>
          <a:xfrm>
            <a:off x="3703320" y="2514600"/>
            <a:ext cx="731520" cy="457200"/>
          </a:xfrm>
          <a:prstGeom prst="rect">
            <a:avLst/>
          </a:prstGeom>
          <a:noFill/>
          <a:ln/>
        </p:spPr>
        <p:txBody>
          <a:bodyPr wrap="square" lIns="0" tIns="0" rIns="0" bIns="0" rtlCol="0" anchor="ctr"/>
          <a:lstStyle/>
          <a:p>
            <a:pPr indent="0" marL="0">
              <a:buNone/>
            </a:pPr>
            <a:r>
              <a:rPr lang="en-US" sz="1300" b="1" dirty="0">
                <a:solidFill>
                  <a:srgbClr val="E5484D"/>
                </a:solidFill>
              </a:rPr>
              <a:t>0.076</a:t>
            </a:r>
            <a:endParaRPr lang="en-US" sz="1300" dirty="0"/>
          </a:p>
        </p:txBody>
      </p:sp>
      <p:sp>
        <p:nvSpPr>
          <p:cNvPr id="14" name="Icon circle"/>
          <p:cNvSpPr/>
          <p:nvPr/>
        </p:nvSpPr>
        <p:spPr>
          <a:xfrm>
            <a:off x="822960" y="3227832"/>
            <a:ext cx="457200" cy="457200"/>
          </a:xfrm>
          <a:prstGeom prst="ellipse">
            <a:avLst/>
          </a:prstGeom>
          <a:solidFill>
            <a:srgbClr val="EEF2ED"/>
          </a:solidFill>
          <a:ln/>
        </p:spPr>
      </p:sp>
      <p:pic>
        <p:nvPicPr>
          <p:cNvPr id="15" name="Icon FaWaveSquare" descr="preencoded.png">    </p:cNvPr>
          <p:cNvPicPr>
            <a:picLocks noChangeAspect="1"/>
          </p:cNvPicPr>
          <p:nvPr/>
        </p:nvPicPr>
        <p:blipFill>
          <a:blip r:embed="rId2"/>
          <a:stretch>
            <a:fillRect/>
          </a:stretch>
        </p:blipFill>
        <p:spPr>
          <a:xfrm>
            <a:off x="937260" y="3342132"/>
            <a:ext cx="228600" cy="228600"/>
          </a:xfrm>
          <a:prstGeom prst="rect">
            <a:avLst/>
          </a:prstGeom>
        </p:spPr>
      </p:pic>
      <p:sp>
        <p:nvSpPr>
          <p:cNvPr id="16" name="Text 11"/>
          <p:cNvSpPr txBox="1"/>
          <p:nvPr/>
        </p:nvSpPr>
        <p:spPr>
          <a:xfrm>
            <a:off x="1417320" y="3227832"/>
            <a:ext cx="1874520" cy="457200"/>
          </a:xfrm>
          <a:prstGeom prst="rect">
            <a:avLst/>
          </a:prstGeom>
          <a:noFill/>
          <a:ln/>
        </p:spPr>
        <p:txBody>
          <a:bodyPr wrap="square" lIns="0" tIns="0" rIns="0" bIns="0" rtlCol="0" anchor="ctr"/>
          <a:lstStyle/>
          <a:p>
            <a:pPr indent="0" marL="0">
              <a:buNone/>
            </a:pPr>
            <a:r>
              <a:rPr lang="en-US" sz="1250" dirty="0">
                <a:solidFill>
                  <a:schemeClr val="tx2"/>
                </a:solidFill>
              </a:rPr>
              <a:t>Anomaly only</a:t>
            </a:r>
            <a:endParaRPr lang="en-US" sz="1250" dirty="0"/>
          </a:p>
        </p:txBody>
      </p:sp>
      <p:sp>
        <p:nvSpPr>
          <p:cNvPr id="17" name="Bar track"/>
          <p:cNvSpPr/>
          <p:nvPr/>
        </p:nvSpPr>
        <p:spPr>
          <a:xfrm>
            <a:off x="3337560" y="3319272"/>
            <a:ext cx="3566160" cy="274320"/>
          </a:xfrm>
          <a:prstGeom prst="roundRect">
            <a:avLst>
              <a:gd name="adj" fmla="val 50000"/>
            </a:avLst>
          </a:prstGeom>
          <a:solidFill>
            <a:srgbClr val="EEF2ED"/>
          </a:solidFill>
          <a:ln/>
        </p:spPr>
      </p:sp>
      <p:sp>
        <p:nvSpPr>
          <p:cNvPr id="18" name="Bar Anomaly only"/>
          <p:cNvSpPr/>
          <p:nvPr/>
        </p:nvSpPr>
        <p:spPr>
          <a:xfrm>
            <a:off x="3337560" y="3319272"/>
            <a:ext cx="624078" cy="274320"/>
          </a:xfrm>
          <a:prstGeom prst="roundRect">
            <a:avLst>
              <a:gd name="adj" fmla="val 50000"/>
            </a:avLst>
          </a:prstGeom>
          <a:solidFill>
            <a:srgbClr val="9EAAA1"/>
          </a:solidFill>
          <a:ln/>
        </p:spPr>
      </p:sp>
      <p:sp>
        <p:nvSpPr>
          <p:cNvPr id="19" name="Text 14"/>
          <p:cNvSpPr txBox="1"/>
          <p:nvPr/>
        </p:nvSpPr>
        <p:spPr>
          <a:xfrm>
            <a:off x="4053078" y="3227832"/>
            <a:ext cx="731520" cy="457200"/>
          </a:xfrm>
          <a:prstGeom prst="rect">
            <a:avLst/>
          </a:prstGeom>
          <a:noFill/>
          <a:ln/>
        </p:spPr>
        <p:txBody>
          <a:bodyPr wrap="square" lIns="0" tIns="0" rIns="0" bIns="0" rtlCol="0" anchor="ctr"/>
          <a:lstStyle/>
          <a:p>
            <a:pPr indent="0" marL="0">
              <a:buNone/>
            </a:pPr>
            <a:r>
              <a:rPr lang="en-US" sz="1300" b="1" dirty="0">
                <a:solidFill>
                  <a:srgbClr val="9EAAA1"/>
                </a:solidFill>
              </a:rPr>
              <a:t>0.175</a:t>
            </a:r>
            <a:endParaRPr lang="en-US" sz="1300" dirty="0"/>
          </a:p>
        </p:txBody>
      </p:sp>
      <p:sp>
        <p:nvSpPr>
          <p:cNvPr id="20" name="Icon circle"/>
          <p:cNvSpPr/>
          <p:nvPr/>
        </p:nvSpPr>
        <p:spPr>
          <a:xfrm>
            <a:off x="822960" y="3941064"/>
            <a:ext cx="457200" cy="457200"/>
          </a:xfrm>
          <a:prstGeom prst="ellipse">
            <a:avLst/>
          </a:prstGeom>
          <a:solidFill>
            <a:srgbClr val="EEF2ED"/>
          </a:solidFill>
          <a:ln/>
        </p:spPr>
      </p:sp>
      <p:pic>
        <p:nvPicPr>
          <p:cNvPr id="21" name="Icon FaUserSecret" descr="preencoded.png">    </p:cNvPr>
          <p:cNvPicPr>
            <a:picLocks noChangeAspect="1"/>
          </p:cNvPicPr>
          <p:nvPr/>
        </p:nvPicPr>
        <p:blipFill>
          <a:blip r:embed="rId3"/>
          <a:stretch>
            <a:fillRect/>
          </a:stretch>
        </p:blipFill>
        <p:spPr>
          <a:xfrm>
            <a:off x="937260" y="4055364"/>
            <a:ext cx="228600" cy="228600"/>
          </a:xfrm>
          <a:prstGeom prst="rect">
            <a:avLst/>
          </a:prstGeom>
        </p:spPr>
      </p:pic>
      <p:sp>
        <p:nvSpPr>
          <p:cNvPr id="22" name="Text 16"/>
          <p:cNvSpPr txBox="1"/>
          <p:nvPr/>
        </p:nvSpPr>
        <p:spPr>
          <a:xfrm>
            <a:off x="1417320" y="3941064"/>
            <a:ext cx="1874520" cy="457200"/>
          </a:xfrm>
          <a:prstGeom prst="rect">
            <a:avLst/>
          </a:prstGeom>
          <a:noFill/>
          <a:ln/>
        </p:spPr>
        <p:txBody>
          <a:bodyPr wrap="square" lIns="0" tIns="0" rIns="0" bIns="0" rtlCol="0" anchor="ctr"/>
          <a:lstStyle/>
          <a:p>
            <a:pPr indent="0" marL="0">
              <a:buNone/>
            </a:pPr>
            <a:r>
              <a:rPr lang="en-US" sz="1250" dirty="0">
                <a:solidFill>
                  <a:schemeClr val="tx2"/>
                </a:solidFill>
              </a:rPr>
              <a:t>Mule model only</a:t>
            </a:r>
            <a:endParaRPr lang="en-US" sz="1250" dirty="0"/>
          </a:p>
        </p:txBody>
      </p:sp>
      <p:sp>
        <p:nvSpPr>
          <p:cNvPr id="23" name="Bar track"/>
          <p:cNvSpPr/>
          <p:nvPr/>
        </p:nvSpPr>
        <p:spPr>
          <a:xfrm>
            <a:off x="3337560" y="4032504"/>
            <a:ext cx="3566160" cy="274320"/>
          </a:xfrm>
          <a:prstGeom prst="roundRect">
            <a:avLst>
              <a:gd name="adj" fmla="val 50000"/>
            </a:avLst>
          </a:prstGeom>
          <a:solidFill>
            <a:srgbClr val="EEF2ED"/>
          </a:solidFill>
          <a:ln/>
        </p:spPr>
      </p:sp>
      <p:sp>
        <p:nvSpPr>
          <p:cNvPr id="24" name="Bar Mule model only"/>
          <p:cNvSpPr/>
          <p:nvPr/>
        </p:nvSpPr>
        <p:spPr>
          <a:xfrm>
            <a:off x="3337560" y="4032504"/>
            <a:ext cx="1337310" cy="274320"/>
          </a:xfrm>
          <a:prstGeom prst="roundRect">
            <a:avLst>
              <a:gd name="adj" fmla="val 50000"/>
            </a:avLst>
          </a:prstGeom>
          <a:solidFill>
            <a:srgbClr val="9EAAA1"/>
          </a:solidFill>
          <a:ln/>
        </p:spPr>
      </p:sp>
      <p:sp>
        <p:nvSpPr>
          <p:cNvPr id="25" name="Text 19"/>
          <p:cNvSpPr txBox="1"/>
          <p:nvPr/>
        </p:nvSpPr>
        <p:spPr>
          <a:xfrm>
            <a:off x="4766310" y="3941064"/>
            <a:ext cx="731520" cy="457200"/>
          </a:xfrm>
          <a:prstGeom prst="rect">
            <a:avLst/>
          </a:prstGeom>
          <a:noFill/>
          <a:ln/>
        </p:spPr>
        <p:txBody>
          <a:bodyPr wrap="square" lIns="0" tIns="0" rIns="0" bIns="0" rtlCol="0" anchor="ctr"/>
          <a:lstStyle/>
          <a:p>
            <a:pPr indent="0" marL="0">
              <a:buNone/>
            </a:pPr>
            <a:r>
              <a:rPr lang="en-US" sz="1300" b="1" dirty="0">
                <a:solidFill>
                  <a:srgbClr val="9EAAA1"/>
                </a:solidFill>
              </a:rPr>
              <a:t>0.375</a:t>
            </a:r>
            <a:endParaRPr lang="en-US" sz="1300" dirty="0"/>
          </a:p>
        </p:txBody>
      </p:sp>
      <p:sp>
        <p:nvSpPr>
          <p:cNvPr id="26" name="Served highlight"/>
          <p:cNvSpPr/>
          <p:nvPr/>
        </p:nvSpPr>
        <p:spPr>
          <a:xfrm>
            <a:off x="685800" y="4544568"/>
            <a:ext cx="7040880" cy="676656"/>
          </a:xfrm>
          <a:prstGeom prst="roundRect">
            <a:avLst>
              <a:gd name="adj" fmla="val 13514"/>
            </a:avLst>
          </a:prstGeom>
          <a:solidFill>
            <a:srgbClr val="FFF3B0"/>
          </a:solidFill>
          <a:ln/>
        </p:spPr>
      </p:sp>
      <p:sp>
        <p:nvSpPr>
          <p:cNvPr id="27" name="Icon circle"/>
          <p:cNvSpPr/>
          <p:nvPr/>
        </p:nvSpPr>
        <p:spPr>
          <a:xfrm>
            <a:off x="822960" y="4654296"/>
            <a:ext cx="457200" cy="457200"/>
          </a:xfrm>
          <a:prstGeom prst="ellipse">
            <a:avLst/>
          </a:prstGeom>
          <a:solidFill>
            <a:srgbClr val="DCEBE2"/>
          </a:solidFill>
          <a:ln/>
        </p:spPr>
      </p:sp>
      <p:pic>
        <p:nvPicPr>
          <p:cNvPr id="28" name="Icon FaBrain" descr="preencoded.png">    </p:cNvPr>
          <p:cNvPicPr>
            <a:picLocks noChangeAspect="1"/>
          </p:cNvPicPr>
          <p:nvPr/>
        </p:nvPicPr>
        <p:blipFill>
          <a:blip r:embed="rId4"/>
          <a:stretch>
            <a:fillRect/>
          </a:stretch>
        </p:blipFill>
        <p:spPr>
          <a:xfrm>
            <a:off x="937260" y="4768596"/>
            <a:ext cx="228600" cy="228600"/>
          </a:xfrm>
          <a:prstGeom prst="rect">
            <a:avLst/>
          </a:prstGeom>
        </p:spPr>
      </p:pic>
      <p:sp>
        <p:nvSpPr>
          <p:cNvPr id="29" name="Text 22"/>
          <p:cNvSpPr txBox="1"/>
          <p:nvPr/>
        </p:nvSpPr>
        <p:spPr>
          <a:xfrm>
            <a:off x="1417320" y="4654296"/>
            <a:ext cx="1874520" cy="457200"/>
          </a:xfrm>
          <a:prstGeom prst="rect">
            <a:avLst/>
          </a:prstGeom>
          <a:noFill/>
          <a:ln/>
        </p:spPr>
        <p:txBody>
          <a:bodyPr wrap="square" lIns="0" tIns="0" rIns="0" bIns="0" rtlCol="0" anchor="ctr"/>
          <a:lstStyle/>
          <a:p>
            <a:pPr indent="0" marL="0">
              <a:buNone/>
            </a:pPr>
            <a:r>
              <a:rPr lang="en-US" sz="1250" b="1" dirty="0">
                <a:solidFill>
                  <a:schemeClr val="tx2"/>
                </a:solidFill>
              </a:rPr>
              <a:t>Transaction model (served)</a:t>
            </a:r>
            <a:endParaRPr lang="en-US" sz="1250" dirty="0"/>
          </a:p>
        </p:txBody>
      </p:sp>
      <p:sp>
        <p:nvSpPr>
          <p:cNvPr id="30" name="Bar track"/>
          <p:cNvSpPr/>
          <p:nvPr/>
        </p:nvSpPr>
        <p:spPr>
          <a:xfrm>
            <a:off x="3337560" y="4745736"/>
            <a:ext cx="3566160" cy="274320"/>
          </a:xfrm>
          <a:prstGeom prst="roundRect">
            <a:avLst>
              <a:gd name="adj" fmla="val 50000"/>
            </a:avLst>
          </a:prstGeom>
          <a:solidFill>
            <a:srgbClr val="EEF2ED"/>
          </a:solidFill>
          <a:ln/>
        </p:spPr>
      </p:sp>
      <p:sp>
        <p:nvSpPr>
          <p:cNvPr id="31" name="Bar Transaction model (served)"/>
          <p:cNvSpPr/>
          <p:nvPr/>
        </p:nvSpPr>
        <p:spPr>
          <a:xfrm>
            <a:off x="3337560" y="4745736"/>
            <a:ext cx="2974177" cy="274320"/>
          </a:xfrm>
          <a:prstGeom prst="roundRect">
            <a:avLst>
              <a:gd name="adj" fmla="val 50000"/>
            </a:avLst>
          </a:prstGeom>
          <a:solidFill>
            <a:srgbClr val="3E7C64"/>
          </a:solidFill>
          <a:ln/>
        </p:spPr>
      </p:sp>
      <p:sp>
        <p:nvSpPr>
          <p:cNvPr id="32" name="Text 25"/>
          <p:cNvSpPr txBox="1"/>
          <p:nvPr/>
        </p:nvSpPr>
        <p:spPr>
          <a:xfrm>
            <a:off x="6403177" y="4654296"/>
            <a:ext cx="731520" cy="457200"/>
          </a:xfrm>
          <a:prstGeom prst="rect">
            <a:avLst/>
          </a:prstGeom>
          <a:noFill/>
          <a:ln/>
        </p:spPr>
        <p:txBody>
          <a:bodyPr wrap="square" lIns="0" tIns="0" rIns="0" bIns="0" rtlCol="0" anchor="ctr"/>
          <a:lstStyle/>
          <a:p>
            <a:pPr indent="0" marL="0">
              <a:buNone/>
            </a:pPr>
            <a:r>
              <a:rPr lang="en-US" sz="1300" b="1" dirty="0">
                <a:solidFill>
                  <a:srgbClr val="3E7C64"/>
                </a:solidFill>
              </a:rPr>
              <a:t>0.834</a:t>
            </a:r>
            <a:endParaRPr lang="en-US" sz="1300" dirty="0"/>
          </a:p>
        </p:txBody>
      </p:sp>
      <p:sp>
        <p:nvSpPr>
          <p:cNvPr id="33" name="Icon circle"/>
          <p:cNvSpPr/>
          <p:nvPr/>
        </p:nvSpPr>
        <p:spPr>
          <a:xfrm>
            <a:off x="822960" y="5367528"/>
            <a:ext cx="457200" cy="457200"/>
          </a:xfrm>
          <a:prstGeom prst="ellipse">
            <a:avLst/>
          </a:prstGeom>
          <a:solidFill>
            <a:srgbClr val="EEF2ED"/>
          </a:solidFill>
          <a:ln/>
        </p:spPr>
      </p:sp>
      <p:pic>
        <p:nvPicPr>
          <p:cNvPr id="34" name="Icon FaLayerGroup" descr="preencoded.png">    </p:cNvPr>
          <p:cNvPicPr>
            <a:picLocks noChangeAspect="1"/>
          </p:cNvPicPr>
          <p:nvPr/>
        </p:nvPicPr>
        <p:blipFill>
          <a:blip r:embed="rId5"/>
          <a:stretch>
            <a:fillRect/>
          </a:stretch>
        </p:blipFill>
        <p:spPr>
          <a:xfrm>
            <a:off x="937260" y="5481828"/>
            <a:ext cx="228600" cy="228600"/>
          </a:xfrm>
          <a:prstGeom prst="rect">
            <a:avLst/>
          </a:prstGeom>
        </p:spPr>
      </p:pic>
      <p:sp>
        <p:nvSpPr>
          <p:cNvPr id="35" name="Text 27"/>
          <p:cNvSpPr txBox="1"/>
          <p:nvPr/>
        </p:nvSpPr>
        <p:spPr>
          <a:xfrm>
            <a:off x="1417320" y="5367528"/>
            <a:ext cx="1874520" cy="457200"/>
          </a:xfrm>
          <a:prstGeom prst="rect">
            <a:avLst/>
          </a:prstGeom>
          <a:noFill/>
          <a:ln/>
        </p:spPr>
        <p:txBody>
          <a:bodyPr wrap="square" lIns="0" tIns="0" rIns="0" bIns="0" rtlCol="0" anchor="ctr"/>
          <a:lstStyle/>
          <a:p>
            <a:pPr indent="0" marL="0">
              <a:buNone/>
            </a:pPr>
            <a:r>
              <a:rPr lang="en-US" sz="1250" dirty="0">
                <a:solidFill>
                  <a:schemeClr val="tx2"/>
                </a:solidFill>
              </a:rPr>
              <a:t>Fusion of all three</a:t>
            </a:r>
            <a:endParaRPr lang="en-US" sz="1250" dirty="0"/>
          </a:p>
        </p:txBody>
      </p:sp>
      <p:sp>
        <p:nvSpPr>
          <p:cNvPr id="36" name="Bar track"/>
          <p:cNvSpPr/>
          <p:nvPr/>
        </p:nvSpPr>
        <p:spPr>
          <a:xfrm>
            <a:off x="3337560" y="5458968"/>
            <a:ext cx="3566160" cy="274320"/>
          </a:xfrm>
          <a:prstGeom prst="roundRect">
            <a:avLst>
              <a:gd name="adj" fmla="val 50000"/>
            </a:avLst>
          </a:prstGeom>
          <a:solidFill>
            <a:srgbClr val="EEF2ED"/>
          </a:solidFill>
          <a:ln/>
        </p:spPr>
      </p:sp>
      <p:sp>
        <p:nvSpPr>
          <p:cNvPr id="37" name="Bar Fusion of all three"/>
          <p:cNvSpPr/>
          <p:nvPr/>
        </p:nvSpPr>
        <p:spPr>
          <a:xfrm>
            <a:off x="3337560" y="5458968"/>
            <a:ext cx="2977744" cy="274320"/>
          </a:xfrm>
          <a:prstGeom prst="roundRect">
            <a:avLst>
              <a:gd name="adj" fmla="val 50000"/>
            </a:avLst>
          </a:prstGeom>
          <a:solidFill>
            <a:srgbClr val="8DB89E"/>
          </a:solidFill>
          <a:ln/>
        </p:spPr>
      </p:sp>
      <p:sp>
        <p:nvSpPr>
          <p:cNvPr id="38" name="Text 30"/>
          <p:cNvSpPr txBox="1"/>
          <p:nvPr/>
        </p:nvSpPr>
        <p:spPr>
          <a:xfrm>
            <a:off x="6406744" y="5367528"/>
            <a:ext cx="731520" cy="457200"/>
          </a:xfrm>
          <a:prstGeom prst="rect">
            <a:avLst/>
          </a:prstGeom>
          <a:noFill/>
          <a:ln/>
        </p:spPr>
        <p:txBody>
          <a:bodyPr wrap="square" lIns="0" tIns="0" rIns="0" bIns="0" rtlCol="0" anchor="ctr"/>
          <a:lstStyle/>
          <a:p>
            <a:pPr indent="0" marL="0">
              <a:buNone/>
            </a:pPr>
            <a:r>
              <a:rPr lang="en-US" sz="1300" b="1" dirty="0">
                <a:solidFill>
                  <a:srgbClr val="8DB89E"/>
                </a:solidFill>
              </a:rPr>
              <a:t>0.835</a:t>
            </a:r>
            <a:endParaRPr lang="en-US" sz="1300" dirty="0"/>
          </a:p>
        </p:txBody>
      </p:sp>
      <p:sp>
        <p:nvSpPr>
          <p:cNvPr id="39" name="Card"/>
          <p:cNvSpPr/>
          <p:nvPr/>
        </p:nvSpPr>
        <p:spPr>
          <a:xfrm>
            <a:off x="8183880" y="1783080"/>
            <a:ext cx="3429000" cy="4343400"/>
          </a:xfrm>
          <a:prstGeom prst="roundRect">
            <a:avLst>
              <a:gd name="adj" fmla="val 3733"/>
            </a:avLst>
          </a:prstGeom>
          <a:solidFill>
            <a:schemeClr val="tx2"/>
          </a:solidFill>
          <a:ln/>
          <a:effectLst>
            <a:outerShdw sx="100000" sy="100000" kx="0" ky="0" algn="bl" rotWithShape="0" blurRad="127000" dist="38100" dir="5400000">
              <a:srgbClr val="16231C">
                <a:alpha val="14000"/>
              </a:srgbClr>
            </a:outerShdw>
          </a:effectLst>
        </p:spPr>
      </p:sp>
      <p:sp>
        <p:nvSpPr>
          <p:cNvPr id="40" name="Icon circle"/>
          <p:cNvSpPr/>
          <p:nvPr/>
        </p:nvSpPr>
        <p:spPr>
          <a:xfrm>
            <a:off x="10561320" y="2057400"/>
            <a:ext cx="777240" cy="777240"/>
          </a:xfrm>
          <a:prstGeom prst="ellipse">
            <a:avLst/>
          </a:prstGeom>
          <a:solidFill>
            <a:schemeClr val="accent2"/>
          </a:solidFill>
          <a:ln/>
        </p:spPr>
      </p:sp>
      <p:pic>
        <p:nvPicPr>
          <p:cNvPr id="41" name="Icon FaTrophy" descr="preencoded.png">    </p:cNvPr>
          <p:cNvPicPr>
            <a:picLocks noChangeAspect="1"/>
          </p:cNvPicPr>
          <p:nvPr/>
        </p:nvPicPr>
        <p:blipFill>
          <a:blip r:embed="rId6"/>
          <a:stretch>
            <a:fillRect/>
          </a:stretch>
        </p:blipFill>
        <p:spPr>
          <a:xfrm>
            <a:off x="10755630" y="2251710"/>
            <a:ext cx="388620" cy="388620"/>
          </a:xfrm>
          <a:prstGeom prst="rect">
            <a:avLst/>
          </a:prstGeom>
        </p:spPr>
      </p:pic>
      <p:sp>
        <p:nvSpPr>
          <p:cNvPr id="42" name="Text 33"/>
          <p:cNvSpPr txBox="1"/>
          <p:nvPr/>
        </p:nvSpPr>
        <p:spPr>
          <a:xfrm>
            <a:off x="8458200" y="2011680"/>
            <a:ext cx="2103120" cy="914400"/>
          </a:xfrm>
          <a:prstGeom prst="rect">
            <a:avLst/>
          </a:prstGeom>
          <a:noFill/>
          <a:ln/>
        </p:spPr>
        <p:txBody>
          <a:bodyPr wrap="square" lIns="0" tIns="0" rIns="0" bIns="0" rtlCol="0" anchor="t"/>
          <a:lstStyle/>
          <a:p>
            <a:pPr indent="0" marL="0">
              <a:buNone/>
            </a:pPr>
            <a:r>
              <a:rPr lang="en-US" sz="6000" b="1" dirty="0">
                <a:solidFill>
                  <a:schemeClr val="accent2"/>
                </a:solidFill>
              </a:rPr>
              <a:t>×11</a:t>
            </a:r>
            <a:endParaRPr lang="en-US" sz="6000" dirty="0"/>
          </a:p>
        </p:txBody>
      </p:sp>
      <p:sp>
        <p:nvSpPr>
          <p:cNvPr id="43" name="Text 34"/>
          <p:cNvSpPr txBox="1"/>
          <p:nvPr/>
        </p:nvSpPr>
        <p:spPr>
          <a:xfrm>
            <a:off x="8458200" y="2971800"/>
            <a:ext cx="2926080" cy="777240"/>
          </a:xfrm>
          <a:prstGeom prst="rect">
            <a:avLst/>
          </a:prstGeom>
          <a:noFill/>
          <a:ln/>
        </p:spPr>
        <p:txBody>
          <a:bodyPr wrap="square" lIns="0" tIns="0" rIns="0" bIns="0" rtlCol="0" anchor="t"/>
          <a:lstStyle/>
          <a:p>
            <a:pPr indent="0" marL="0">
              <a:buNone/>
            </a:pPr>
            <a:r>
              <a:rPr lang="en-US" sz="1500" dirty="0">
                <a:solidFill>
                  <a:schemeClr val="bg1"/>
                </a:solidFill>
              </a:rPr>
              <a:t>better PR-AUC than the rules many wallets run today</a:t>
            </a:r>
            <a:endParaRPr lang="en-US" sz="1500" dirty="0"/>
          </a:p>
        </p:txBody>
      </p:sp>
      <p:sp>
        <p:nvSpPr>
          <p:cNvPr id="44" name="Shape 35"/>
          <p:cNvSpPr/>
          <p:nvPr/>
        </p:nvSpPr>
        <p:spPr>
          <a:xfrm>
            <a:off x="8458200" y="3886200"/>
            <a:ext cx="2880360" cy="0"/>
          </a:xfrm>
          <a:prstGeom prst="line">
            <a:avLst/>
          </a:prstGeom>
          <a:noFill/>
          <a:ln w="12700">
            <a:solidFill>
              <a:srgbClr val="3F5A49"/>
            </a:solidFill>
            <a:prstDash val="solid"/>
          </a:ln>
        </p:spPr>
      </p:sp>
      <p:sp>
        <p:nvSpPr>
          <p:cNvPr id="45" name="Text 36"/>
          <p:cNvSpPr txBox="1"/>
          <p:nvPr/>
        </p:nvSpPr>
        <p:spPr>
          <a:xfrm>
            <a:off x="8458200" y="4069080"/>
            <a:ext cx="2743200" cy="274320"/>
          </a:xfrm>
          <a:prstGeom prst="rect">
            <a:avLst/>
          </a:prstGeom>
          <a:noFill/>
          <a:ln/>
        </p:spPr>
        <p:txBody>
          <a:bodyPr wrap="square" lIns="0" tIns="0" rIns="0" bIns="0" rtlCol="0" anchor="t"/>
          <a:lstStyle/>
          <a:p>
            <a:pPr indent="0" marL="0">
              <a:buNone/>
            </a:pPr>
            <a:r>
              <a:rPr lang="en-US" sz="1200" dirty="0">
                <a:solidFill>
                  <a:srgbClr val="CFDACF"/>
                </a:solidFill>
              </a:rPr>
              <a:t>Rules</a:t>
            </a:r>
            <a:endParaRPr lang="en-US" sz="1200" dirty="0"/>
          </a:p>
        </p:txBody>
      </p:sp>
      <p:sp>
        <p:nvSpPr>
          <p:cNvPr id="46" name="Mini bar rules"/>
          <p:cNvSpPr/>
          <p:nvPr/>
        </p:nvSpPr>
        <p:spPr>
          <a:xfrm>
            <a:off x="8458200" y="4389120"/>
            <a:ext cx="274320" cy="256032"/>
          </a:xfrm>
          <a:prstGeom prst="roundRect">
            <a:avLst>
              <a:gd name="adj" fmla="val 50000"/>
            </a:avLst>
          </a:prstGeom>
          <a:solidFill>
            <a:srgbClr val="E5484D"/>
          </a:solidFill>
          <a:ln/>
        </p:spPr>
      </p:sp>
      <p:sp>
        <p:nvSpPr>
          <p:cNvPr id="47" name="Text 38"/>
          <p:cNvSpPr txBox="1"/>
          <p:nvPr/>
        </p:nvSpPr>
        <p:spPr>
          <a:xfrm>
            <a:off x="8823960" y="4343400"/>
            <a:ext cx="914400" cy="347472"/>
          </a:xfrm>
          <a:prstGeom prst="rect">
            <a:avLst/>
          </a:prstGeom>
          <a:noFill/>
          <a:ln/>
        </p:spPr>
        <p:txBody>
          <a:bodyPr wrap="square" lIns="0" tIns="0" rIns="0" bIns="0" rtlCol="0" anchor="ctr"/>
          <a:lstStyle/>
          <a:p>
            <a:pPr indent="0" marL="0">
              <a:buNone/>
            </a:pPr>
            <a:r>
              <a:rPr lang="en-US" sz="1200" b="1" dirty="0">
                <a:solidFill>
                  <a:schemeClr val="bg1"/>
                </a:solidFill>
              </a:rPr>
              <a:t>0.076</a:t>
            </a:r>
            <a:endParaRPr lang="en-US" sz="1200" dirty="0"/>
          </a:p>
        </p:txBody>
      </p:sp>
      <p:sp>
        <p:nvSpPr>
          <p:cNvPr id="48" name="Text 39"/>
          <p:cNvSpPr txBox="1"/>
          <p:nvPr/>
        </p:nvSpPr>
        <p:spPr>
          <a:xfrm>
            <a:off x="8458200" y="4800600"/>
            <a:ext cx="2743200" cy="274320"/>
          </a:xfrm>
          <a:prstGeom prst="rect">
            <a:avLst/>
          </a:prstGeom>
          <a:noFill/>
          <a:ln/>
        </p:spPr>
        <p:txBody>
          <a:bodyPr wrap="square" lIns="0" tIns="0" rIns="0" bIns="0" rtlCol="0" anchor="t"/>
          <a:lstStyle/>
          <a:p>
            <a:pPr indent="0" marL="0">
              <a:buNone/>
            </a:pPr>
            <a:r>
              <a:rPr lang="en-US" sz="1200" dirty="0">
                <a:solidFill>
                  <a:srgbClr val="CFDACF"/>
                </a:solidFill>
              </a:rPr>
              <a:t>FraudLens</a:t>
            </a:r>
            <a:endParaRPr lang="en-US" sz="1200" dirty="0"/>
          </a:p>
        </p:txBody>
      </p:sp>
      <p:sp>
        <p:nvSpPr>
          <p:cNvPr id="49" name="Mini bar FraudLens"/>
          <p:cNvSpPr/>
          <p:nvPr/>
        </p:nvSpPr>
        <p:spPr>
          <a:xfrm>
            <a:off x="8458200" y="5120640"/>
            <a:ext cx="2194560" cy="256032"/>
          </a:xfrm>
          <a:prstGeom prst="roundRect">
            <a:avLst>
              <a:gd name="adj" fmla="val 50000"/>
            </a:avLst>
          </a:prstGeom>
          <a:solidFill>
            <a:schemeClr val="accent2"/>
          </a:solidFill>
          <a:ln/>
        </p:spPr>
      </p:sp>
      <p:sp>
        <p:nvSpPr>
          <p:cNvPr id="50" name="Text 41"/>
          <p:cNvSpPr txBox="1"/>
          <p:nvPr/>
        </p:nvSpPr>
        <p:spPr>
          <a:xfrm>
            <a:off x="10744200" y="5074920"/>
            <a:ext cx="731520" cy="347472"/>
          </a:xfrm>
          <a:prstGeom prst="rect">
            <a:avLst/>
          </a:prstGeom>
          <a:noFill/>
          <a:ln/>
        </p:spPr>
        <p:txBody>
          <a:bodyPr wrap="square" lIns="0" tIns="0" rIns="0" bIns="0" rtlCol="0" anchor="ctr"/>
          <a:lstStyle/>
          <a:p>
            <a:pPr indent="0" marL="0">
              <a:buNone/>
            </a:pPr>
            <a:r>
              <a:rPr lang="en-US" sz="1200" b="1" dirty="0">
                <a:solidFill>
                  <a:schemeClr val="bg1"/>
                </a:solidFill>
              </a:rPr>
              <a:t>0.834</a:t>
            </a:r>
            <a:endParaRPr lang="en-US" sz="1200" dirty="0"/>
          </a:p>
        </p:txBody>
      </p:sp>
      <p:sp>
        <p:nvSpPr>
          <p:cNvPr id="51" name="Text 42"/>
          <p:cNvSpPr txBox="1"/>
          <p:nvPr/>
        </p:nvSpPr>
        <p:spPr>
          <a:xfrm>
            <a:off x="8458200" y="5577840"/>
            <a:ext cx="2926080" cy="365760"/>
          </a:xfrm>
          <a:prstGeom prst="rect">
            <a:avLst/>
          </a:prstGeom>
          <a:noFill/>
          <a:ln/>
        </p:spPr>
        <p:txBody>
          <a:bodyPr wrap="square" lIns="0" tIns="0" rIns="0" bIns="0" rtlCol="0" anchor="t"/>
          <a:lstStyle/>
          <a:p>
            <a:pPr indent="0" marL="0">
              <a:buNone/>
            </a:pPr>
            <a:r>
              <a:rPr lang="en-US" sz="1050" i="1" dirty="0">
                <a:solidFill>
                  <a:srgbClr val="A3B5A6"/>
                </a:solidFill>
              </a:rPr>
              <a:t>Fusion only ties, so the simpler model is served.</a:t>
            </a:r>
            <a:endParaRPr lang="en-US" sz="105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p:nvPr/>
        </p:nvSpPr>
        <p:spPr>
          <a:xfrm>
            <a:off x="548640" y="347472"/>
            <a:ext cx="1641348" cy="292608"/>
          </a:xfrm>
          <a:prstGeom prst="roundRect">
            <a:avLst>
              <a:gd name="adj" fmla="val 50000"/>
            </a:avLst>
          </a:prstGeom>
          <a:solidFill>
            <a:schemeClr val="accent2"/>
          </a:solidFill>
          <a:ln/>
        </p:spPr>
      </p:sp>
      <p:sp>
        <p:nvSpPr>
          <p:cNvPr id="3" name="Kicker text"/>
          <p:cNvSpPr txBox="1"/>
          <p:nvPr/>
        </p:nvSpPr>
        <p:spPr>
          <a:xfrm>
            <a:off x="548640" y="347472"/>
            <a:ext cx="1641348" cy="292608"/>
          </a:xfrm>
          <a:prstGeom prst="rect">
            <a:avLst/>
          </a:prstGeom>
          <a:noFill/>
          <a:ln/>
        </p:spPr>
        <p:txBody>
          <a:bodyPr wrap="square" lIns="0" tIns="0" rIns="0" bIns="0" rtlCol="0" anchor="ctr"/>
          <a:lstStyle/>
          <a:p>
            <a:pPr algn="ctr" indent="0" marL="0">
              <a:buNone/>
            </a:pPr>
            <a:r>
              <a:rPr lang="en-US" sz="1050" b="1" spc="150" kern="0" dirty="0">
                <a:solidFill>
                  <a:schemeClr val="tx2"/>
                </a:solidFill>
              </a:rPr>
              <a:t>HOW WE BUILT IT</a:t>
            </a:r>
            <a:endParaRPr lang="en-US" sz="1050" dirty="0"/>
          </a:p>
        </p:txBody>
      </p:sp>
      <p:sp>
        <p:nvSpPr>
          <p:cNvPr id="4" name="Text 1"/>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Tech stack: built, tested and running</a:t>
            </a:r>
            <a:endParaRPr lang="en-US" sz="3200" dirty="0"/>
          </a:p>
        </p:txBody>
      </p:sp>
      <p:sp>
        <p:nvSpPr>
          <p:cNvPr id="6" name="Card"/>
          <p:cNvSpPr/>
          <p:nvPr/>
        </p:nvSpPr>
        <p:spPr>
          <a:xfrm>
            <a:off x="548640" y="1783080"/>
            <a:ext cx="2606040" cy="2743200"/>
          </a:xfrm>
          <a:prstGeom prst="roundRect">
            <a:avLst>
              <a:gd name="adj" fmla="val 4912"/>
            </a:avLst>
          </a:prstGeom>
          <a:solidFill>
            <a:schemeClr val="bg1"/>
          </a:solidFill>
          <a:ln w="12700">
            <a:solidFill>
              <a:srgbClr val="DDE5DA"/>
            </a:solidFill>
            <a:prstDash val="solid"/>
          </a:ln>
          <a:effectLst>
            <a:outerShdw sx="100000" sy="100000" kx="0" ky="0" algn="bl" rotWithShape="0" blurRad="127000" dist="38100" dir="5400000">
              <a:srgbClr val="16231C">
                <a:alpha val="14000"/>
              </a:srgbClr>
            </a:outerShdw>
          </a:effectLst>
        </p:spPr>
      </p:sp>
      <p:sp>
        <p:nvSpPr>
          <p:cNvPr id="7" name="Icon circle"/>
          <p:cNvSpPr/>
          <p:nvPr/>
        </p:nvSpPr>
        <p:spPr>
          <a:xfrm>
            <a:off x="777240" y="2011680"/>
            <a:ext cx="640080" cy="640080"/>
          </a:xfrm>
          <a:prstGeom prst="ellipse">
            <a:avLst/>
          </a:prstGeom>
          <a:solidFill>
            <a:srgbClr val="3E7C64"/>
          </a:solidFill>
          <a:ln/>
        </p:spPr>
      </p:sp>
      <p:pic>
        <p:nvPicPr>
          <p:cNvPr id="8" name="Icon FaBrain" descr="preencoded.png">    </p:cNvPr>
          <p:cNvPicPr>
            <a:picLocks noChangeAspect="1"/>
          </p:cNvPicPr>
          <p:nvPr/>
        </p:nvPicPr>
        <p:blipFill>
          <a:blip r:embed="rId1"/>
          <a:stretch>
            <a:fillRect/>
          </a:stretch>
        </p:blipFill>
        <p:spPr>
          <a:xfrm>
            <a:off x="937260" y="2171700"/>
            <a:ext cx="320040" cy="320040"/>
          </a:xfrm>
          <a:prstGeom prst="rect">
            <a:avLst/>
          </a:prstGeom>
        </p:spPr>
      </p:pic>
      <p:sp>
        <p:nvSpPr>
          <p:cNvPr id="9" name="Text 5"/>
          <p:cNvSpPr txBox="1"/>
          <p:nvPr/>
        </p:nvSpPr>
        <p:spPr>
          <a:xfrm>
            <a:off x="1554480" y="2011680"/>
            <a:ext cx="1508760" cy="640080"/>
          </a:xfrm>
          <a:prstGeom prst="rect">
            <a:avLst/>
          </a:prstGeom>
          <a:noFill/>
          <a:ln/>
        </p:spPr>
        <p:txBody>
          <a:bodyPr wrap="square" lIns="0" tIns="0" rIns="0" bIns="0" rtlCol="0" anchor="ctr"/>
          <a:lstStyle/>
          <a:p>
            <a:pPr indent="0" marL="0">
              <a:buNone/>
            </a:pPr>
            <a:r>
              <a:rPr lang="en-US" sz="1800" b="1" dirty="0">
                <a:solidFill>
                  <a:schemeClr val="tx2"/>
                </a:solidFill>
              </a:rPr>
              <a:t>Models</a:t>
            </a:r>
            <a:endParaRPr lang="en-US" sz="1800" dirty="0"/>
          </a:p>
        </p:txBody>
      </p:sp>
      <p:sp>
        <p:nvSpPr>
          <p:cNvPr id="10" name="Text 6"/>
          <p:cNvSpPr txBox="1"/>
          <p:nvPr/>
        </p:nvSpPr>
        <p:spPr>
          <a:xfrm>
            <a:off x="822960" y="2834640"/>
            <a:ext cx="2240280" cy="16002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Python 3.12</a:t>
            </a:r>
            <a:endParaRPr lang="en-US" sz="1400" dirty="0"/>
          </a:p>
          <a:p>
            <a:pPr marL="342900" indent="-342900">
              <a:spcAft>
                <a:spcPts val="500"/>
              </a:spcAft>
              <a:buSzPct val="100000"/>
              <a:buChar char="•"/>
            </a:pPr>
            <a:r>
              <a:rPr lang="en-US" sz="1400" dirty="0">
                <a:solidFill>
                  <a:schemeClr val="tx1"/>
                </a:solidFill>
              </a:rPr>
              <a:t>LightGBM</a:t>
            </a:r>
            <a:endParaRPr lang="en-US" sz="1400" dirty="0"/>
          </a:p>
          <a:p>
            <a:pPr marL="342900" indent="-342900">
              <a:spcAft>
                <a:spcPts val="500"/>
              </a:spcAft>
              <a:buSzPct val="100000"/>
              <a:buChar char="•"/>
            </a:pPr>
            <a:r>
              <a:rPr lang="en-US" sz="1400" dirty="0">
                <a:solidFill>
                  <a:schemeClr val="tx1"/>
                </a:solidFill>
              </a:rPr>
              <a:t>scikit-learn</a:t>
            </a:r>
            <a:endParaRPr lang="en-US" sz="1400" dirty="0"/>
          </a:p>
          <a:p>
            <a:pPr marL="342900" indent="-342900">
              <a:spcAft>
                <a:spcPts val="500"/>
              </a:spcAft>
              <a:buSzPct val="100000"/>
              <a:buChar char="•"/>
            </a:pPr>
            <a:r>
              <a:rPr lang="en-US" sz="1400" dirty="0">
                <a:solidFill>
                  <a:schemeClr val="tx1"/>
                </a:solidFill>
              </a:rPr>
              <a:t>SHAP</a:t>
            </a:r>
            <a:endParaRPr lang="en-US" sz="1400" dirty="0"/>
          </a:p>
        </p:txBody>
      </p:sp>
      <p:sp>
        <p:nvSpPr>
          <p:cNvPr id="11" name="Card"/>
          <p:cNvSpPr/>
          <p:nvPr/>
        </p:nvSpPr>
        <p:spPr>
          <a:xfrm>
            <a:off x="3355848" y="1783080"/>
            <a:ext cx="2606040" cy="2743200"/>
          </a:xfrm>
          <a:prstGeom prst="roundRect">
            <a:avLst>
              <a:gd name="adj" fmla="val 4912"/>
            </a:avLst>
          </a:prstGeom>
          <a:solidFill>
            <a:schemeClr val="bg1"/>
          </a:solidFill>
          <a:ln w="12700">
            <a:solidFill>
              <a:srgbClr val="DDE5DA"/>
            </a:solidFill>
            <a:prstDash val="solid"/>
          </a:ln>
          <a:effectLst>
            <a:outerShdw sx="100000" sy="100000" kx="0" ky="0" algn="bl" rotWithShape="0" blurRad="127000" dist="38100" dir="5400000">
              <a:srgbClr val="16231C">
                <a:alpha val="14000"/>
              </a:srgbClr>
            </a:outerShdw>
          </a:effectLst>
        </p:spPr>
      </p:sp>
      <p:sp>
        <p:nvSpPr>
          <p:cNvPr id="12" name="Icon circle"/>
          <p:cNvSpPr/>
          <p:nvPr/>
        </p:nvSpPr>
        <p:spPr>
          <a:xfrm>
            <a:off x="3584448" y="2011680"/>
            <a:ext cx="640080" cy="640080"/>
          </a:xfrm>
          <a:prstGeom prst="ellipse">
            <a:avLst/>
          </a:prstGeom>
          <a:solidFill>
            <a:srgbClr val="3E7C64"/>
          </a:solidFill>
          <a:ln/>
        </p:spPr>
      </p:sp>
      <p:pic>
        <p:nvPicPr>
          <p:cNvPr id="13" name="Icon FaServer" descr="preencoded.png">    </p:cNvPr>
          <p:cNvPicPr>
            <a:picLocks noChangeAspect="1"/>
          </p:cNvPicPr>
          <p:nvPr/>
        </p:nvPicPr>
        <p:blipFill>
          <a:blip r:embed="rId2"/>
          <a:stretch>
            <a:fillRect/>
          </a:stretch>
        </p:blipFill>
        <p:spPr>
          <a:xfrm>
            <a:off x="3744468" y="2171700"/>
            <a:ext cx="320040" cy="320040"/>
          </a:xfrm>
          <a:prstGeom prst="rect">
            <a:avLst/>
          </a:prstGeom>
        </p:spPr>
      </p:pic>
      <p:sp>
        <p:nvSpPr>
          <p:cNvPr id="14" name="Text 9"/>
          <p:cNvSpPr txBox="1"/>
          <p:nvPr/>
        </p:nvSpPr>
        <p:spPr>
          <a:xfrm>
            <a:off x="4361688" y="2011680"/>
            <a:ext cx="1508760" cy="640080"/>
          </a:xfrm>
          <a:prstGeom prst="rect">
            <a:avLst/>
          </a:prstGeom>
          <a:noFill/>
          <a:ln/>
        </p:spPr>
        <p:txBody>
          <a:bodyPr wrap="square" lIns="0" tIns="0" rIns="0" bIns="0" rtlCol="0" anchor="ctr"/>
          <a:lstStyle/>
          <a:p>
            <a:pPr indent="0" marL="0">
              <a:buNone/>
            </a:pPr>
            <a:r>
              <a:rPr lang="en-US" sz="1800" b="1" dirty="0">
                <a:solidFill>
                  <a:schemeClr val="tx2"/>
                </a:solidFill>
              </a:rPr>
              <a:t>API &amp; data</a:t>
            </a:r>
            <a:endParaRPr lang="en-US" sz="1800" dirty="0"/>
          </a:p>
        </p:txBody>
      </p:sp>
      <p:sp>
        <p:nvSpPr>
          <p:cNvPr id="15" name="Text 10"/>
          <p:cNvSpPr txBox="1"/>
          <p:nvPr/>
        </p:nvSpPr>
        <p:spPr>
          <a:xfrm>
            <a:off x="3630168" y="2834640"/>
            <a:ext cx="2240280" cy="16002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FastAPI</a:t>
            </a:r>
            <a:endParaRPr lang="en-US" sz="1400" dirty="0"/>
          </a:p>
          <a:p>
            <a:pPr marL="342900" indent="-342900">
              <a:spcAft>
                <a:spcPts val="500"/>
              </a:spcAft>
              <a:buSzPct val="100000"/>
              <a:buChar char="•"/>
            </a:pPr>
            <a:r>
              <a:rPr lang="en-US" sz="1400" dirty="0">
                <a:solidFill>
                  <a:schemeClr val="tx1"/>
                </a:solidFill>
              </a:rPr>
              <a:t>SQLAlchemy · Alembic</a:t>
            </a:r>
            <a:endParaRPr lang="en-US" sz="1400" dirty="0"/>
          </a:p>
          <a:p>
            <a:pPr marL="342900" indent="-342900">
              <a:spcAft>
                <a:spcPts val="500"/>
              </a:spcAft>
              <a:buSzPct val="100000"/>
              <a:buChar char="•"/>
            </a:pPr>
            <a:r>
              <a:rPr lang="en-US" sz="1400" dirty="0">
                <a:solidFill>
                  <a:schemeClr val="tx1"/>
                </a:solidFill>
              </a:rPr>
              <a:t>PostgreSQL</a:t>
            </a:r>
            <a:endParaRPr lang="en-US" sz="1400" dirty="0"/>
          </a:p>
          <a:p>
            <a:pPr marL="342900" indent="-342900">
              <a:spcAft>
                <a:spcPts val="500"/>
              </a:spcAft>
              <a:buSzPct val="100000"/>
              <a:buChar char="•"/>
            </a:pPr>
            <a:r>
              <a:rPr lang="en-US" sz="1400" dirty="0">
                <a:solidFill>
                  <a:schemeClr val="tx1"/>
                </a:solidFill>
              </a:rPr>
              <a:t>Redis Streams · SSE</a:t>
            </a:r>
            <a:endParaRPr lang="en-US" sz="1400" dirty="0"/>
          </a:p>
        </p:txBody>
      </p:sp>
      <p:sp>
        <p:nvSpPr>
          <p:cNvPr id="16" name="Card"/>
          <p:cNvSpPr/>
          <p:nvPr/>
        </p:nvSpPr>
        <p:spPr>
          <a:xfrm>
            <a:off x="6163056" y="1783080"/>
            <a:ext cx="2606040" cy="2743200"/>
          </a:xfrm>
          <a:prstGeom prst="roundRect">
            <a:avLst>
              <a:gd name="adj" fmla="val 4912"/>
            </a:avLst>
          </a:prstGeom>
          <a:solidFill>
            <a:schemeClr val="bg1"/>
          </a:solidFill>
          <a:ln w="12700">
            <a:solidFill>
              <a:srgbClr val="DDE5DA"/>
            </a:solidFill>
            <a:prstDash val="solid"/>
          </a:ln>
          <a:effectLst>
            <a:outerShdw sx="100000" sy="100000" kx="0" ky="0" algn="bl" rotWithShape="0" blurRad="127000" dist="38100" dir="5400000">
              <a:srgbClr val="16231C">
                <a:alpha val="14000"/>
              </a:srgbClr>
            </a:outerShdw>
          </a:effectLst>
        </p:spPr>
      </p:sp>
      <p:sp>
        <p:nvSpPr>
          <p:cNvPr id="17" name="Icon circle"/>
          <p:cNvSpPr/>
          <p:nvPr/>
        </p:nvSpPr>
        <p:spPr>
          <a:xfrm>
            <a:off x="6391656" y="2011680"/>
            <a:ext cx="640080" cy="640080"/>
          </a:xfrm>
          <a:prstGeom prst="ellipse">
            <a:avLst/>
          </a:prstGeom>
          <a:solidFill>
            <a:srgbClr val="3E7C64"/>
          </a:solidFill>
          <a:ln/>
        </p:spPr>
      </p:sp>
      <p:pic>
        <p:nvPicPr>
          <p:cNvPr id="18" name="Icon FaDesktop" descr="preencoded.png">    </p:cNvPr>
          <p:cNvPicPr>
            <a:picLocks noChangeAspect="1"/>
          </p:cNvPicPr>
          <p:nvPr/>
        </p:nvPicPr>
        <p:blipFill>
          <a:blip r:embed="rId3"/>
          <a:stretch>
            <a:fillRect/>
          </a:stretch>
        </p:blipFill>
        <p:spPr>
          <a:xfrm>
            <a:off x="6551676" y="2171700"/>
            <a:ext cx="320040" cy="320040"/>
          </a:xfrm>
          <a:prstGeom prst="rect">
            <a:avLst/>
          </a:prstGeom>
        </p:spPr>
      </p:pic>
      <p:sp>
        <p:nvSpPr>
          <p:cNvPr id="19" name="Text 13"/>
          <p:cNvSpPr txBox="1"/>
          <p:nvPr/>
        </p:nvSpPr>
        <p:spPr>
          <a:xfrm>
            <a:off x="7168896" y="2011680"/>
            <a:ext cx="1508760" cy="640080"/>
          </a:xfrm>
          <a:prstGeom prst="rect">
            <a:avLst/>
          </a:prstGeom>
          <a:noFill/>
          <a:ln/>
        </p:spPr>
        <p:txBody>
          <a:bodyPr wrap="square" lIns="0" tIns="0" rIns="0" bIns="0" rtlCol="0" anchor="ctr"/>
          <a:lstStyle/>
          <a:p>
            <a:pPr indent="0" marL="0">
              <a:buNone/>
            </a:pPr>
            <a:r>
              <a:rPr lang="en-US" sz="1800" b="1" dirty="0">
                <a:solidFill>
                  <a:schemeClr val="tx2"/>
                </a:solidFill>
              </a:rPr>
              <a:t>Console</a:t>
            </a:r>
            <a:endParaRPr lang="en-US" sz="1800" dirty="0"/>
          </a:p>
        </p:txBody>
      </p:sp>
      <p:sp>
        <p:nvSpPr>
          <p:cNvPr id="20" name="Text 14"/>
          <p:cNvSpPr txBox="1"/>
          <p:nvPr/>
        </p:nvSpPr>
        <p:spPr>
          <a:xfrm>
            <a:off x="6437376" y="2834640"/>
            <a:ext cx="2240280" cy="16002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Next.js 16</a:t>
            </a:r>
            <a:endParaRPr lang="en-US" sz="1400" dirty="0"/>
          </a:p>
          <a:p>
            <a:pPr marL="342900" indent="-342900">
              <a:spcAft>
                <a:spcPts val="500"/>
              </a:spcAft>
              <a:buSzPct val="100000"/>
              <a:buChar char="•"/>
            </a:pPr>
            <a:r>
              <a:rPr lang="en-US" sz="1400" dirty="0">
                <a:solidFill>
                  <a:schemeClr val="tx1"/>
                </a:solidFill>
              </a:rPr>
              <a:t>React 19</a:t>
            </a:r>
            <a:endParaRPr lang="en-US" sz="1400" dirty="0"/>
          </a:p>
          <a:p>
            <a:pPr marL="342900" indent="-342900">
              <a:spcAft>
                <a:spcPts val="500"/>
              </a:spcAft>
              <a:buSzPct val="100000"/>
              <a:buChar char="•"/>
            </a:pPr>
            <a:r>
              <a:rPr lang="en-US" sz="1400" dirty="0">
                <a:solidFill>
                  <a:schemeClr val="tx1"/>
                </a:solidFill>
              </a:rPr>
              <a:t>Tailwind CSS v4</a:t>
            </a:r>
            <a:endParaRPr lang="en-US" sz="1400" dirty="0"/>
          </a:p>
          <a:p>
            <a:pPr marL="342900" indent="-342900">
              <a:spcAft>
                <a:spcPts val="500"/>
              </a:spcAft>
              <a:buSzPct val="100000"/>
              <a:buChar char="•"/>
            </a:pPr>
            <a:r>
              <a:rPr lang="en-US" sz="1400" dirty="0">
                <a:solidFill>
                  <a:schemeClr val="tx1"/>
                </a:solidFill>
              </a:rPr>
              <a:t>d3-force graphs</a:t>
            </a:r>
            <a:endParaRPr lang="en-US" sz="1400" dirty="0"/>
          </a:p>
        </p:txBody>
      </p:sp>
      <p:sp>
        <p:nvSpPr>
          <p:cNvPr id="21" name="Card"/>
          <p:cNvSpPr/>
          <p:nvPr/>
        </p:nvSpPr>
        <p:spPr>
          <a:xfrm>
            <a:off x="8970264" y="1783080"/>
            <a:ext cx="2606040" cy="2743200"/>
          </a:xfrm>
          <a:prstGeom prst="roundRect">
            <a:avLst>
              <a:gd name="adj" fmla="val 4912"/>
            </a:avLst>
          </a:prstGeom>
          <a:solidFill>
            <a:schemeClr val="bg1"/>
          </a:solidFill>
          <a:ln w="12700">
            <a:solidFill>
              <a:srgbClr val="DDE5DA"/>
            </a:solidFill>
            <a:prstDash val="solid"/>
          </a:ln>
          <a:effectLst>
            <a:outerShdw sx="100000" sy="100000" kx="0" ky="0" algn="bl" rotWithShape="0" blurRad="127000" dist="38100" dir="5400000">
              <a:srgbClr val="16231C">
                <a:alpha val="14000"/>
              </a:srgbClr>
            </a:outerShdw>
          </a:effectLst>
        </p:spPr>
      </p:sp>
      <p:sp>
        <p:nvSpPr>
          <p:cNvPr id="22" name="Icon circle"/>
          <p:cNvSpPr/>
          <p:nvPr/>
        </p:nvSpPr>
        <p:spPr>
          <a:xfrm>
            <a:off x="9198864" y="2011680"/>
            <a:ext cx="640080" cy="640080"/>
          </a:xfrm>
          <a:prstGeom prst="ellipse">
            <a:avLst/>
          </a:prstGeom>
          <a:solidFill>
            <a:srgbClr val="3E7C64"/>
          </a:solidFill>
          <a:ln/>
        </p:spPr>
      </p:sp>
      <p:pic>
        <p:nvPicPr>
          <p:cNvPr id="23" name="Icon FaDocker" descr="preencoded.png">    </p:cNvPr>
          <p:cNvPicPr>
            <a:picLocks noChangeAspect="1"/>
          </p:cNvPicPr>
          <p:nvPr/>
        </p:nvPicPr>
        <p:blipFill>
          <a:blip r:embed="rId4"/>
          <a:stretch>
            <a:fillRect/>
          </a:stretch>
        </p:blipFill>
        <p:spPr>
          <a:xfrm>
            <a:off x="9358884" y="2171700"/>
            <a:ext cx="320040" cy="320040"/>
          </a:xfrm>
          <a:prstGeom prst="rect">
            <a:avLst/>
          </a:prstGeom>
        </p:spPr>
      </p:pic>
      <p:sp>
        <p:nvSpPr>
          <p:cNvPr id="24" name="Text 17"/>
          <p:cNvSpPr txBox="1"/>
          <p:nvPr/>
        </p:nvSpPr>
        <p:spPr>
          <a:xfrm>
            <a:off x="9976104" y="2011680"/>
            <a:ext cx="1508760" cy="640080"/>
          </a:xfrm>
          <a:prstGeom prst="rect">
            <a:avLst/>
          </a:prstGeom>
          <a:noFill/>
          <a:ln/>
        </p:spPr>
        <p:txBody>
          <a:bodyPr wrap="square" lIns="0" tIns="0" rIns="0" bIns="0" rtlCol="0" anchor="ctr"/>
          <a:lstStyle/>
          <a:p>
            <a:pPr indent="0" marL="0">
              <a:buNone/>
            </a:pPr>
            <a:r>
              <a:rPr lang="en-US" sz="1800" b="1" dirty="0">
                <a:solidFill>
                  <a:schemeClr val="tx2"/>
                </a:solidFill>
              </a:rPr>
              <a:t>Ops</a:t>
            </a:r>
            <a:endParaRPr lang="en-US" sz="1800" dirty="0"/>
          </a:p>
        </p:txBody>
      </p:sp>
      <p:sp>
        <p:nvSpPr>
          <p:cNvPr id="25" name="Text 18"/>
          <p:cNvSpPr txBox="1"/>
          <p:nvPr/>
        </p:nvSpPr>
        <p:spPr>
          <a:xfrm>
            <a:off x="9244584" y="2834640"/>
            <a:ext cx="2240280" cy="16002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Docker Compose</a:t>
            </a:r>
            <a:endParaRPr lang="en-US" sz="1400" dirty="0"/>
          </a:p>
          <a:p>
            <a:pPr marL="342900" indent="-342900">
              <a:spcAft>
                <a:spcPts val="500"/>
              </a:spcAft>
              <a:buSzPct val="100000"/>
              <a:buChar char="•"/>
            </a:pPr>
            <a:r>
              <a:rPr lang="en-US" sz="1400" dirty="0">
                <a:solidFill>
                  <a:schemeClr val="tx1"/>
                </a:solidFill>
              </a:rPr>
              <a:t>Make · uv · pnpm</a:t>
            </a:r>
            <a:endParaRPr lang="en-US" sz="1400" dirty="0"/>
          </a:p>
          <a:p>
            <a:pPr marL="342900" indent="-342900">
              <a:spcAft>
                <a:spcPts val="500"/>
              </a:spcAft>
              <a:buSzPct val="100000"/>
              <a:buChar char="•"/>
            </a:pPr>
            <a:r>
              <a:rPr lang="en-US" sz="1400" dirty="0">
                <a:solidFill>
                  <a:schemeClr val="tx1"/>
                </a:solidFill>
              </a:rPr>
              <a:t>Playwright smoke</a:t>
            </a:r>
            <a:endParaRPr lang="en-US" sz="1400" dirty="0"/>
          </a:p>
          <a:p>
            <a:pPr marL="342900" indent="-342900">
              <a:spcAft>
                <a:spcPts val="500"/>
              </a:spcAft>
              <a:buSzPct val="100000"/>
              <a:buChar char="•"/>
            </a:pPr>
            <a:r>
              <a:rPr lang="en-US" sz="1400" dirty="0">
                <a:solidFill>
                  <a:schemeClr val="tx1"/>
                </a:solidFill>
              </a:rPr>
              <a:t>GitHub Actions CI</a:t>
            </a:r>
            <a:endParaRPr lang="en-US" sz="1400" dirty="0"/>
          </a:p>
        </p:txBody>
      </p:sp>
      <p:sp>
        <p:nvSpPr>
          <p:cNvPr id="26" name="Card"/>
          <p:cNvSpPr/>
          <p:nvPr/>
        </p:nvSpPr>
        <p:spPr>
          <a:xfrm>
            <a:off x="548640" y="4800600"/>
            <a:ext cx="11064240" cy="1325880"/>
          </a:xfrm>
          <a:prstGeom prst="roundRect">
            <a:avLst>
              <a:gd name="adj" fmla="val 9655"/>
            </a:avLst>
          </a:prstGeom>
          <a:solidFill>
            <a:schemeClr val="tx2"/>
          </a:solidFill>
          <a:ln/>
        </p:spPr>
      </p:sp>
      <p:sp>
        <p:nvSpPr>
          <p:cNvPr id="27" name="Text 20"/>
          <p:cNvSpPr txBox="1"/>
          <p:nvPr/>
        </p:nvSpPr>
        <p:spPr>
          <a:xfrm>
            <a:off x="822960" y="4956048"/>
            <a:ext cx="2560320" cy="502920"/>
          </a:xfrm>
          <a:prstGeom prst="rect">
            <a:avLst/>
          </a:prstGeom>
          <a:noFill/>
          <a:ln/>
        </p:spPr>
        <p:txBody>
          <a:bodyPr wrap="square" lIns="0" tIns="0" rIns="0" bIns="0" rtlCol="0" anchor="t"/>
          <a:lstStyle/>
          <a:p>
            <a:pPr indent="0" marL="0">
              <a:buNone/>
            </a:pPr>
            <a:r>
              <a:rPr lang="en-US" sz="2200" b="1" dirty="0">
                <a:solidFill>
                  <a:schemeClr val="accent2"/>
                </a:solidFill>
                <a:latin typeface="Courier New" pitchFamily="34" charset="0"/>
                <a:ea typeface="Courier New" pitchFamily="34" charset="-122"/>
                <a:cs typeface="Courier New" pitchFamily="34" charset="-120"/>
              </a:rPr>
              <a:t>make demo</a:t>
            </a:r>
            <a:endParaRPr lang="en-US" sz="2200" dirty="0"/>
          </a:p>
        </p:txBody>
      </p:sp>
      <p:sp>
        <p:nvSpPr>
          <p:cNvPr id="28" name="Text 21"/>
          <p:cNvSpPr txBox="1"/>
          <p:nvPr/>
        </p:nvSpPr>
        <p:spPr>
          <a:xfrm>
            <a:off x="822960" y="5468112"/>
            <a:ext cx="2514600" cy="548640"/>
          </a:xfrm>
          <a:prstGeom prst="rect">
            <a:avLst/>
          </a:prstGeom>
          <a:noFill/>
          <a:ln/>
        </p:spPr>
        <p:txBody>
          <a:bodyPr wrap="square" lIns="0" tIns="0" rIns="0" bIns="0" rtlCol="0" anchor="t"/>
          <a:lstStyle/>
          <a:p>
            <a:pPr indent="0" marL="0">
              <a:buNone/>
            </a:pPr>
            <a:r>
              <a:rPr lang="en-US" sz="1200" dirty="0">
                <a:solidFill>
                  <a:srgbClr val="CFDACF"/>
                </a:solidFill>
              </a:rPr>
              <a:t>one command: build, train, replay, serve</a:t>
            </a:r>
            <a:endParaRPr lang="en-US" sz="1200" dirty="0"/>
          </a:p>
        </p:txBody>
      </p:sp>
      <p:sp>
        <p:nvSpPr>
          <p:cNvPr id="29" name="Text 22"/>
          <p:cNvSpPr txBox="1"/>
          <p:nvPr/>
        </p:nvSpPr>
        <p:spPr>
          <a:xfrm>
            <a:off x="3566160" y="4956048"/>
            <a:ext cx="2560320" cy="502920"/>
          </a:xfrm>
          <a:prstGeom prst="rect">
            <a:avLst/>
          </a:prstGeom>
          <a:noFill/>
          <a:ln/>
        </p:spPr>
        <p:txBody>
          <a:bodyPr wrap="square" lIns="0" tIns="0" rIns="0" bIns="0" rtlCol="0" anchor="t"/>
          <a:lstStyle/>
          <a:p>
            <a:pPr indent="0" marL="0">
              <a:buNone/>
            </a:pPr>
            <a:r>
              <a:rPr lang="en-US" sz="2200" b="1" dirty="0">
                <a:solidFill>
                  <a:schemeClr val="accent2"/>
                </a:solidFill>
              </a:rPr>
              <a:t>227</a:t>
            </a:r>
            <a:endParaRPr lang="en-US" sz="2200" dirty="0"/>
          </a:p>
        </p:txBody>
      </p:sp>
      <p:sp>
        <p:nvSpPr>
          <p:cNvPr id="30" name="Text 23"/>
          <p:cNvSpPr txBox="1"/>
          <p:nvPr/>
        </p:nvSpPr>
        <p:spPr>
          <a:xfrm>
            <a:off x="3566160" y="5468112"/>
            <a:ext cx="2514600" cy="548640"/>
          </a:xfrm>
          <a:prstGeom prst="rect">
            <a:avLst/>
          </a:prstGeom>
          <a:noFill/>
          <a:ln/>
        </p:spPr>
        <p:txBody>
          <a:bodyPr wrap="square" lIns="0" tIns="0" rIns="0" bIns="0" rtlCol="0" anchor="t"/>
          <a:lstStyle/>
          <a:p>
            <a:pPr indent="0" marL="0">
              <a:buNone/>
            </a:pPr>
            <a:r>
              <a:rPr lang="en-US" sz="1200" dirty="0">
                <a:solidFill>
                  <a:srgbClr val="CFDACF"/>
                </a:solidFill>
              </a:rPr>
              <a:t>backend tests</a:t>
            </a:r>
            <a:endParaRPr lang="en-US" sz="1200" dirty="0"/>
          </a:p>
        </p:txBody>
      </p:sp>
      <p:sp>
        <p:nvSpPr>
          <p:cNvPr id="31" name="Text 24"/>
          <p:cNvSpPr txBox="1"/>
          <p:nvPr/>
        </p:nvSpPr>
        <p:spPr>
          <a:xfrm>
            <a:off x="6309360" y="4956048"/>
            <a:ext cx="2560320" cy="502920"/>
          </a:xfrm>
          <a:prstGeom prst="rect">
            <a:avLst/>
          </a:prstGeom>
          <a:noFill/>
          <a:ln/>
        </p:spPr>
        <p:txBody>
          <a:bodyPr wrap="square" lIns="0" tIns="0" rIns="0" bIns="0" rtlCol="0" anchor="t"/>
          <a:lstStyle/>
          <a:p>
            <a:pPr indent="0" marL="0">
              <a:buNone/>
            </a:pPr>
            <a:r>
              <a:rPr lang="en-US" sz="2200" b="1" dirty="0">
                <a:solidFill>
                  <a:schemeClr val="accent2"/>
                </a:solidFill>
              </a:rPr>
              <a:t>CI</a:t>
            </a:r>
            <a:endParaRPr lang="en-US" sz="2200" dirty="0"/>
          </a:p>
        </p:txBody>
      </p:sp>
      <p:sp>
        <p:nvSpPr>
          <p:cNvPr id="32" name="Text 25"/>
          <p:cNvSpPr txBox="1"/>
          <p:nvPr/>
        </p:nvSpPr>
        <p:spPr>
          <a:xfrm>
            <a:off x="6309360" y="5468112"/>
            <a:ext cx="2514600" cy="548640"/>
          </a:xfrm>
          <a:prstGeom prst="rect">
            <a:avLst/>
          </a:prstGeom>
          <a:noFill/>
          <a:ln/>
        </p:spPr>
        <p:txBody>
          <a:bodyPr wrap="square" lIns="0" tIns="0" rIns="0" bIns="0" rtlCol="0" anchor="t"/>
          <a:lstStyle/>
          <a:p>
            <a:pPr indent="0" marL="0">
              <a:buNone/>
            </a:pPr>
            <a:r>
              <a:rPr lang="en-US" sz="1200" dirty="0">
                <a:solidFill>
                  <a:srgbClr val="CFDACF"/>
                </a:solidFill>
              </a:rPr>
              <a:t>real Postgres + Redis, both images built</a:t>
            </a:r>
            <a:endParaRPr lang="en-US" sz="1200" dirty="0"/>
          </a:p>
        </p:txBody>
      </p:sp>
      <p:sp>
        <p:nvSpPr>
          <p:cNvPr id="33" name="Text 26"/>
          <p:cNvSpPr txBox="1"/>
          <p:nvPr/>
        </p:nvSpPr>
        <p:spPr>
          <a:xfrm>
            <a:off x="9052560" y="4956048"/>
            <a:ext cx="2560320" cy="502920"/>
          </a:xfrm>
          <a:prstGeom prst="rect">
            <a:avLst/>
          </a:prstGeom>
          <a:noFill/>
          <a:ln/>
        </p:spPr>
        <p:txBody>
          <a:bodyPr wrap="square" lIns="0" tIns="0" rIns="0" bIns="0" rtlCol="0" anchor="t"/>
          <a:lstStyle/>
          <a:p>
            <a:pPr indent="0" marL="0">
              <a:buNone/>
            </a:pPr>
            <a:r>
              <a:rPr lang="en-US" sz="2200" b="1" dirty="0">
                <a:solidFill>
                  <a:schemeClr val="accent2"/>
                </a:solidFill>
              </a:rPr>
              <a:t>every page</a:t>
            </a:r>
            <a:endParaRPr lang="en-US" sz="2200" dirty="0"/>
          </a:p>
        </p:txBody>
      </p:sp>
      <p:sp>
        <p:nvSpPr>
          <p:cNvPr id="34" name="Text 27"/>
          <p:cNvSpPr txBox="1"/>
          <p:nvPr/>
        </p:nvSpPr>
        <p:spPr>
          <a:xfrm>
            <a:off x="9052560" y="5468112"/>
            <a:ext cx="2514600" cy="548640"/>
          </a:xfrm>
          <a:prstGeom prst="rect">
            <a:avLst/>
          </a:prstGeom>
          <a:noFill/>
          <a:ln/>
        </p:spPr>
        <p:txBody>
          <a:bodyPr wrap="square" lIns="0" tIns="0" rIns="0" bIns="0" rtlCol="0" anchor="t"/>
          <a:lstStyle/>
          <a:p>
            <a:pPr indent="0" marL="0">
              <a:buNone/>
            </a:pPr>
            <a:r>
              <a:rPr lang="en-US" sz="1200" dirty="0">
                <a:solidFill>
                  <a:srgbClr val="CFDACF"/>
                </a:solidFill>
              </a:rPr>
              <a:t>smoke-tested as every role</a:t>
            </a:r>
            <a:endParaRPr lang="en-US" sz="120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p:nvPr/>
        </p:nvSpPr>
        <p:spPr>
          <a:xfrm>
            <a:off x="548640" y="347472"/>
            <a:ext cx="1065276" cy="292608"/>
          </a:xfrm>
          <a:prstGeom prst="roundRect">
            <a:avLst>
              <a:gd name="adj" fmla="val 50000"/>
            </a:avLst>
          </a:prstGeom>
          <a:solidFill>
            <a:schemeClr val="accent2"/>
          </a:solidFill>
          <a:ln/>
        </p:spPr>
      </p:sp>
      <p:sp>
        <p:nvSpPr>
          <p:cNvPr id="3" name="Kicker text"/>
          <p:cNvSpPr txBox="1"/>
          <p:nvPr/>
        </p:nvSpPr>
        <p:spPr>
          <a:xfrm>
            <a:off x="548640" y="347472"/>
            <a:ext cx="1065276" cy="292608"/>
          </a:xfrm>
          <a:prstGeom prst="rect">
            <a:avLst/>
          </a:prstGeom>
          <a:noFill/>
          <a:ln/>
        </p:spPr>
        <p:txBody>
          <a:bodyPr wrap="square" lIns="0" tIns="0" rIns="0" bIns="0" rtlCol="0" anchor="ctr"/>
          <a:lstStyle/>
          <a:p>
            <a:pPr algn="ctr" indent="0" marL="0">
              <a:buNone/>
            </a:pPr>
            <a:r>
              <a:rPr lang="en-US" sz="1050" b="1" spc="150" kern="0" dirty="0">
                <a:solidFill>
                  <a:schemeClr val="tx2"/>
                </a:solidFill>
              </a:rPr>
              <a:t>LIVE DEMO</a:t>
            </a:r>
            <a:endParaRPr lang="en-US" sz="1050" dirty="0"/>
          </a:p>
        </p:txBody>
      </p:sp>
      <p:sp>
        <p:nvSpPr>
          <p:cNvPr id="4" name="Text 1"/>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What we built: a working fraud console</a:t>
            </a:r>
            <a:endParaRPr lang="en-US" sz="3200" dirty="0"/>
          </a:p>
        </p:txBody>
      </p:sp>
      <p:sp>
        <p:nvSpPr>
          <p:cNvPr id="6" name="Screen frame"/>
          <p:cNvSpPr/>
          <p:nvPr/>
        </p:nvSpPr>
        <p:spPr>
          <a:xfrm>
            <a:off x="548640" y="1801368"/>
            <a:ext cx="2660904" cy="2110835"/>
          </a:xfrm>
          <a:prstGeom prst="roundRect">
            <a:avLst>
              <a:gd name="adj" fmla="val 5198"/>
            </a:avLst>
          </a:prstGeom>
          <a:solidFill>
            <a:srgbClr val="1B1B1B"/>
          </a:solidFill>
          <a:ln w="12700">
            <a:solidFill>
              <a:srgbClr val="404040"/>
            </a:solidFill>
            <a:prstDash val="solid"/>
          </a:ln>
          <a:effectLst>
            <a:outerShdw sx="100000" sy="100000" kx="0" ky="0" algn="bl" rotWithShape="0" blurRad="127000" dist="38100" dir="5400000">
              <a:srgbClr val="16231C">
                <a:alpha val="14000"/>
              </a:srgbClr>
            </a:outerShdw>
          </a:effectLst>
        </p:spPr>
      </p:sp>
      <p:pic>
        <p:nvPicPr>
          <p:cNvPr id="7" name="Screenshot summary" descr="img/summary.jpg">    </p:cNvPr>
          <p:cNvPicPr>
            <a:picLocks noChangeAspect="1"/>
          </p:cNvPicPr>
          <p:nvPr/>
        </p:nvPicPr>
        <p:blipFill>
          <a:blip r:embed="rId1"/>
          <a:stretch>
            <a:fillRect/>
          </a:stretch>
        </p:blipFill>
        <p:spPr>
          <a:xfrm>
            <a:off x="621792" y="1874520"/>
            <a:ext cx="2514600" cy="1964531"/>
          </a:xfrm>
          <a:prstGeom prst="rect">
            <a:avLst/>
          </a:prstGeom>
        </p:spPr>
      </p:pic>
      <p:sp>
        <p:nvSpPr>
          <p:cNvPr id="8" name="Text 4"/>
          <p:cNvSpPr txBox="1"/>
          <p:nvPr/>
        </p:nvSpPr>
        <p:spPr>
          <a:xfrm>
            <a:off x="548640" y="4067651"/>
            <a:ext cx="2660904" cy="347472"/>
          </a:xfrm>
          <a:prstGeom prst="rect">
            <a:avLst/>
          </a:prstGeom>
          <a:noFill/>
          <a:ln/>
        </p:spPr>
        <p:txBody>
          <a:bodyPr wrap="square" lIns="0" tIns="0" rIns="0" bIns="0" rtlCol="0" anchor="t"/>
          <a:lstStyle/>
          <a:p>
            <a:pPr indent="0" marL="0">
              <a:buNone/>
            </a:pPr>
            <a:r>
              <a:rPr lang="en-US" sz="1600" b="1" dirty="0">
                <a:solidFill>
                  <a:schemeClr val="accent2"/>
                </a:solidFill>
              </a:rPr>
              <a:t>Executive summary</a:t>
            </a:r>
            <a:endParaRPr lang="en-US" sz="1600" dirty="0"/>
          </a:p>
        </p:txBody>
      </p:sp>
      <p:sp>
        <p:nvSpPr>
          <p:cNvPr id="9" name="Text 5"/>
          <p:cNvSpPr txBox="1"/>
          <p:nvPr/>
        </p:nvSpPr>
        <p:spPr>
          <a:xfrm>
            <a:off x="548640" y="4415123"/>
            <a:ext cx="2660904" cy="548640"/>
          </a:xfrm>
          <a:prstGeom prst="rect">
            <a:avLst/>
          </a:prstGeom>
          <a:noFill/>
          <a:ln/>
        </p:spPr>
        <p:txBody>
          <a:bodyPr wrap="square" lIns="0" tIns="0" rIns="0" bIns="0" rtlCol="0" anchor="t"/>
          <a:lstStyle/>
          <a:p>
            <a:pPr indent="0" marL="0">
              <a:buNone/>
            </a:pPr>
            <a:r>
              <a:rPr lang="en-US" sz="1250" dirty="0">
                <a:solidFill>
                  <a:srgbClr val="CFDACF"/>
                </a:solidFill>
              </a:rPr>
              <a:t>money stopped, interruptions, latency, live</a:t>
            </a:r>
            <a:endParaRPr lang="en-US" sz="1250" dirty="0"/>
          </a:p>
        </p:txBody>
      </p:sp>
      <p:sp>
        <p:nvSpPr>
          <p:cNvPr id="10" name="Screen frame"/>
          <p:cNvSpPr/>
          <p:nvPr/>
        </p:nvSpPr>
        <p:spPr>
          <a:xfrm>
            <a:off x="3355848" y="1801368"/>
            <a:ext cx="2660904" cy="2110835"/>
          </a:xfrm>
          <a:prstGeom prst="roundRect">
            <a:avLst>
              <a:gd name="adj" fmla="val 5198"/>
            </a:avLst>
          </a:prstGeom>
          <a:solidFill>
            <a:srgbClr val="1B1B1B"/>
          </a:solidFill>
          <a:ln w="12700">
            <a:solidFill>
              <a:srgbClr val="404040"/>
            </a:solidFill>
            <a:prstDash val="solid"/>
          </a:ln>
          <a:effectLst>
            <a:outerShdw sx="100000" sy="100000" kx="0" ky="0" algn="bl" rotWithShape="0" blurRad="127000" dist="38100" dir="5400000">
              <a:srgbClr val="16231C">
                <a:alpha val="14000"/>
              </a:srgbClr>
            </a:outerShdw>
          </a:effectLst>
        </p:spPr>
      </p:sp>
      <p:pic>
        <p:nvPicPr>
          <p:cNvPr id="11" name="Screenshot alerts" descr="img/alerts.jpg">    </p:cNvPr>
          <p:cNvPicPr>
            <a:picLocks noChangeAspect="1"/>
          </p:cNvPicPr>
          <p:nvPr/>
        </p:nvPicPr>
        <p:blipFill>
          <a:blip r:embed="rId2"/>
          <a:stretch>
            <a:fillRect/>
          </a:stretch>
        </p:blipFill>
        <p:spPr>
          <a:xfrm>
            <a:off x="3429000" y="1874520"/>
            <a:ext cx="2514600" cy="1964531"/>
          </a:xfrm>
          <a:prstGeom prst="rect">
            <a:avLst/>
          </a:prstGeom>
        </p:spPr>
      </p:pic>
      <p:sp>
        <p:nvSpPr>
          <p:cNvPr id="12" name="Text 7"/>
          <p:cNvSpPr txBox="1"/>
          <p:nvPr/>
        </p:nvSpPr>
        <p:spPr>
          <a:xfrm>
            <a:off x="3355848" y="4067651"/>
            <a:ext cx="2660904" cy="347472"/>
          </a:xfrm>
          <a:prstGeom prst="rect">
            <a:avLst/>
          </a:prstGeom>
          <a:noFill/>
          <a:ln/>
        </p:spPr>
        <p:txBody>
          <a:bodyPr wrap="square" lIns="0" tIns="0" rIns="0" bIns="0" rtlCol="0" anchor="t"/>
          <a:lstStyle/>
          <a:p>
            <a:pPr indent="0" marL="0">
              <a:buNone/>
            </a:pPr>
            <a:r>
              <a:rPr lang="en-US" sz="1600" b="1" dirty="0">
                <a:solidFill>
                  <a:schemeClr val="accent2"/>
                </a:solidFill>
              </a:rPr>
              <a:t>Alert queue</a:t>
            </a:r>
            <a:endParaRPr lang="en-US" sz="1600" dirty="0"/>
          </a:p>
        </p:txBody>
      </p:sp>
      <p:sp>
        <p:nvSpPr>
          <p:cNvPr id="13" name="Text 8"/>
          <p:cNvSpPr txBox="1"/>
          <p:nvPr/>
        </p:nvSpPr>
        <p:spPr>
          <a:xfrm>
            <a:off x="3355848" y="4415123"/>
            <a:ext cx="2660904" cy="548640"/>
          </a:xfrm>
          <a:prstGeom prst="rect">
            <a:avLst/>
          </a:prstGeom>
          <a:noFill/>
          <a:ln/>
        </p:spPr>
        <p:txBody>
          <a:bodyPr wrap="square" lIns="0" tIns="0" rIns="0" bIns="0" rtlCol="0" anchor="t"/>
          <a:lstStyle/>
          <a:p>
            <a:pPr indent="0" marL="0">
              <a:buNone/>
            </a:pPr>
            <a:r>
              <a:rPr lang="en-US" sz="1250" dirty="0">
                <a:solidFill>
                  <a:srgbClr val="CFDACF"/>
                </a:solidFill>
              </a:rPr>
              <a:t>every interrupted payment over a live feed</a:t>
            </a:r>
            <a:endParaRPr lang="en-US" sz="1250" dirty="0"/>
          </a:p>
        </p:txBody>
      </p:sp>
      <p:sp>
        <p:nvSpPr>
          <p:cNvPr id="14" name="Screen frame"/>
          <p:cNvSpPr/>
          <p:nvPr/>
        </p:nvSpPr>
        <p:spPr>
          <a:xfrm>
            <a:off x="6163056" y="1801368"/>
            <a:ext cx="2660904" cy="2110835"/>
          </a:xfrm>
          <a:prstGeom prst="roundRect">
            <a:avLst>
              <a:gd name="adj" fmla="val 5198"/>
            </a:avLst>
          </a:prstGeom>
          <a:solidFill>
            <a:srgbClr val="1B1B1B"/>
          </a:solidFill>
          <a:ln w="12700">
            <a:solidFill>
              <a:srgbClr val="404040"/>
            </a:solidFill>
            <a:prstDash val="solid"/>
          </a:ln>
          <a:effectLst>
            <a:outerShdw sx="100000" sy="100000" kx="0" ky="0" algn="bl" rotWithShape="0" blurRad="127000" dist="38100" dir="5400000">
              <a:srgbClr val="16231C">
                <a:alpha val="14000"/>
              </a:srgbClr>
            </a:outerShdw>
          </a:effectLst>
        </p:spPr>
      </p:sp>
      <p:pic>
        <p:nvPicPr>
          <p:cNvPr id="15" name="Screenshot impact" descr="img/impact.jpg">    </p:cNvPr>
          <p:cNvPicPr>
            <a:picLocks noChangeAspect="1"/>
          </p:cNvPicPr>
          <p:nvPr/>
        </p:nvPicPr>
        <p:blipFill>
          <a:blip r:embed="rId3"/>
          <a:stretch>
            <a:fillRect/>
          </a:stretch>
        </p:blipFill>
        <p:spPr>
          <a:xfrm>
            <a:off x="6236208" y="1874520"/>
            <a:ext cx="2514600" cy="1964531"/>
          </a:xfrm>
          <a:prstGeom prst="rect">
            <a:avLst/>
          </a:prstGeom>
        </p:spPr>
      </p:pic>
      <p:sp>
        <p:nvSpPr>
          <p:cNvPr id="16" name="Text 10"/>
          <p:cNvSpPr txBox="1"/>
          <p:nvPr/>
        </p:nvSpPr>
        <p:spPr>
          <a:xfrm>
            <a:off x="6163056" y="4067651"/>
            <a:ext cx="2660904" cy="347472"/>
          </a:xfrm>
          <a:prstGeom prst="rect">
            <a:avLst/>
          </a:prstGeom>
          <a:noFill/>
          <a:ln/>
        </p:spPr>
        <p:txBody>
          <a:bodyPr wrap="square" lIns="0" tIns="0" rIns="0" bIns="0" rtlCol="0" anchor="t"/>
          <a:lstStyle/>
          <a:p>
            <a:pPr indent="0" marL="0">
              <a:buNone/>
            </a:pPr>
            <a:r>
              <a:rPr lang="en-US" sz="1600" b="1" dirty="0">
                <a:solidFill>
                  <a:schemeClr val="accent2"/>
                </a:solidFill>
              </a:rPr>
              <a:t>Impact simulator</a:t>
            </a:r>
            <a:endParaRPr lang="en-US" sz="1600" dirty="0"/>
          </a:p>
        </p:txBody>
      </p:sp>
      <p:sp>
        <p:nvSpPr>
          <p:cNvPr id="17" name="Text 11"/>
          <p:cNvSpPr txBox="1"/>
          <p:nvPr/>
        </p:nvSpPr>
        <p:spPr>
          <a:xfrm>
            <a:off x="6163056" y="4415123"/>
            <a:ext cx="2660904" cy="548640"/>
          </a:xfrm>
          <a:prstGeom prst="rect">
            <a:avLst/>
          </a:prstGeom>
          <a:noFill/>
          <a:ln/>
        </p:spPr>
        <p:txBody>
          <a:bodyPr wrap="square" lIns="0" tIns="0" rIns="0" bIns="0" rtlCol="0" anchor="t"/>
          <a:lstStyle/>
          <a:p>
            <a:pPr indent="0" marL="0">
              <a:buNone/>
            </a:pPr>
            <a:r>
              <a:rPr lang="en-US" sz="1250" dirty="0">
                <a:solidFill>
                  <a:srgbClr val="CFDACF"/>
                </a:solidFill>
              </a:rPr>
              <a:t>move the threshold, see the trade-off</a:t>
            </a:r>
            <a:endParaRPr lang="en-US" sz="1250" dirty="0"/>
          </a:p>
        </p:txBody>
      </p:sp>
      <p:sp>
        <p:nvSpPr>
          <p:cNvPr id="18" name="Screen frame"/>
          <p:cNvSpPr/>
          <p:nvPr/>
        </p:nvSpPr>
        <p:spPr>
          <a:xfrm>
            <a:off x="8970264" y="1801368"/>
            <a:ext cx="2660904" cy="2110835"/>
          </a:xfrm>
          <a:prstGeom prst="roundRect">
            <a:avLst>
              <a:gd name="adj" fmla="val 5198"/>
            </a:avLst>
          </a:prstGeom>
          <a:solidFill>
            <a:srgbClr val="1B1B1B"/>
          </a:solidFill>
          <a:ln w="12700">
            <a:solidFill>
              <a:srgbClr val="404040"/>
            </a:solidFill>
            <a:prstDash val="solid"/>
          </a:ln>
          <a:effectLst>
            <a:outerShdw sx="100000" sy="100000" kx="0" ky="0" algn="bl" rotWithShape="0" blurRad="127000" dist="38100" dir="5400000">
              <a:srgbClr val="16231C">
                <a:alpha val="14000"/>
              </a:srgbClr>
            </a:outerShdw>
          </a:effectLst>
        </p:spPr>
      </p:sp>
      <p:pic>
        <p:nvPicPr>
          <p:cNvPr id="19" name="Screenshot fairness" descr="img/fairness.jpg">    </p:cNvPr>
          <p:cNvPicPr>
            <a:picLocks noChangeAspect="1"/>
          </p:cNvPicPr>
          <p:nvPr/>
        </p:nvPicPr>
        <p:blipFill>
          <a:blip r:embed="rId4"/>
          <a:stretch>
            <a:fillRect/>
          </a:stretch>
        </p:blipFill>
        <p:spPr>
          <a:xfrm>
            <a:off x="9043416" y="1874520"/>
            <a:ext cx="2514600" cy="1964531"/>
          </a:xfrm>
          <a:prstGeom prst="rect">
            <a:avLst/>
          </a:prstGeom>
        </p:spPr>
      </p:pic>
      <p:sp>
        <p:nvSpPr>
          <p:cNvPr id="20" name="Text 13"/>
          <p:cNvSpPr txBox="1"/>
          <p:nvPr/>
        </p:nvSpPr>
        <p:spPr>
          <a:xfrm>
            <a:off x="8970264" y="4067651"/>
            <a:ext cx="2660904" cy="347472"/>
          </a:xfrm>
          <a:prstGeom prst="rect">
            <a:avLst/>
          </a:prstGeom>
          <a:noFill/>
          <a:ln/>
        </p:spPr>
        <p:txBody>
          <a:bodyPr wrap="square" lIns="0" tIns="0" rIns="0" bIns="0" rtlCol="0" anchor="t"/>
          <a:lstStyle/>
          <a:p>
            <a:pPr indent="0" marL="0">
              <a:buNone/>
            </a:pPr>
            <a:r>
              <a:rPr lang="en-US" sz="1600" b="1" dirty="0">
                <a:solidFill>
                  <a:schemeClr val="accent2"/>
                </a:solidFill>
              </a:rPr>
              <a:t>Fairness report</a:t>
            </a:r>
            <a:endParaRPr lang="en-US" sz="1600" dirty="0"/>
          </a:p>
        </p:txBody>
      </p:sp>
      <p:sp>
        <p:nvSpPr>
          <p:cNvPr id="21" name="Text 14"/>
          <p:cNvSpPr txBox="1"/>
          <p:nvPr/>
        </p:nvSpPr>
        <p:spPr>
          <a:xfrm>
            <a:off x="8970264" y="4415123"/>
            <a:ext cx="2660904" cy="548640"/>
          </a:xfrm>
          <a:prstGeom prst="rect">
            <a:avLst/>
          </a:prstGeom>
          <a:noFill/>
          <a:ln/>
        </p:spPr>
        <p:txBody>
          <a:bodyPr wrap="square" lIns="0" tIns="0" rIns="0" bIns="0" rtlCol="0" anchor="t"/>
          <a:lstStyle/>
          <a:p>
            <a:pPr indent="0" marL="0">
              <a:buNone/>
            </a:pPr>
            <a:r>
              <a:rPr lang="en-US" sz="1250" dirty="0">
                <a:solidFill>
                  <a:srgbClr val="CFDACF"/>
                </a:solidFill>
              </a:rPr>
              <a:t>false alarms by region, age, balance, channel</a:t>
            </a:r>
            <a:endParaRPr lang="en-US" sz="1250" dirty="0"/>
          </a:p>
        </p:txBody>
      </p:sp>
      <p:sp>
        <p:nvSpPr>
          <p:cNvPr id="22" name="Text 15"/>
          <p:cNvSpPr txBox="1"/>
          <p:nvPr/>
        </p:nvSpPr>
        <p:spPr>
          <a:xfrm>
            <a:off x="548640" y="5440680"/>
            <a:ext cx="11064240" cy="548640"/>
          </a:xfrm>
          <a:prstGeom prst="rect">
            <a:avLst/>
          </a:prstGeom>
          <a:noFill/>
          <a:ln/>
        </p:spPr>
        <p:txBody>
          <a:bodyPr wrap="square" lIns="0" tIns="0" rIns="0" bIns="0" rtlCol="0" anchor="t"/>
          <a:lstStyle/>
          <a:p>
            <a:pPr indent="0" marL="0">
              <a:buNone/>
            </a:pPr>
            <a:r>
              <a:rPr lang="en-US" sz="1300" dirty="0">
                <a:solidFill>
                  <a:srgbClr val="BAC7BC"/>
                </a:solidFill>
              </a:rPr>
              <a:t>Also: Cases · Freeze approvals · Network explorer · Mule rings · Agent risk · Model monitoring · Decision policy · Audit log · Fraud types · Customer phone demo</a:t>
            </a:r>
            <a:endParaRPr lang="en-US" sz="130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AC7B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p:nvPr/>
        </p:nvSpPr>
        <p:spPr>
          <a:xfrm>
            <a:off x="548640" y="347472"/>
            <a:ext cx="1161288" cy="292608"/>
          </a:xfrm>
          <a:prstGeom prst="roundRect">
            <a:avLst>
              <a:gd name="adj" fmla="val 50000"/>
            </a:avLst>
          </a:prstGeom>
          <a:solidFill>
            <a:schemeClr val="accent2"/>
          </a:solidFill>
          <a:ln/>
        </p:spPr>
      </p:sp>
      <p:sp>
        <p:nvSpPr>
          <p:cNvPr id="3" name="Kicker text"/>
          <p:cNvSpPr txBox="1"/>
          <p:nvPr/>
        </p:nvSpPr>
        <p:spPr>
          <a:xfrm>
            <a:off x="548640" y="347472"/>
            <a:ext cx="1161288" cy="292608"/>
          </a:xfrm>
          <a:prstGeom prst="rect">
            <a:avLst/>
          </a:prstGeom>
          <a:noFill/>
          <a:ln/>
        </p:spPr>
        <p:txBody>
          <a:bodyPr wrap="square" lIns="0" tIns="0" rIns="0" bIns="0" rtlCol="0" anchor="ctr"/>
          <a:lstStyle/>
          <a:p>
            <a:pPr algn="ctr" indent="0" marL="0">
              <a:buNone/>
            </a:pPr>
            <a:r>
              <a:rPr lang="en-US" sz="1050" b="1" spc="150" kern="0" dirty="0">
                <a:solidFill>
                  <a:schemeClr val="tx2"/>
                </a:solidFill>
              </a:rPr>
              <a:t>WHY WE WIN</a:t>
            </a:r>
            <a:endParaRPr lang="en-US" sz="1050" dirty="0"/>
          </a:p>
        </p:txBody>
      </p:sp>
      <p:sp>
        <p:nvSpPr>
          <p:cNvPr id="4" name="Text 1"/>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Why FraudLens is a hero fraud detection system</a:t>
            </a:r>
            <a:endParaRPr lang="en-US" sz="3200" dirty="0"/>
          </a:p>
        </p:txBody>
      </p:sp>
      <p:sp>
        <p:nvSpPr>
          <p:cNvPr id="6" name="Hero column"/>
          <p:cNvSpPr/>
          <p:nvPr/>
        </p:nvSpPr>
        <p:spPr>
          <a:xfrm>
            <a:off x="9509760" y="1600200"/>
            <a:ext cx="2103120" cy="4215384"/>
          </a:xfrm>
          <a:prstGeom prst="rect">
            <a:avLst/>
          </a:prstGeom>
          <a:solidFill>
            <a:schemeClr val="accent2">
              <a:alpha val="30000"/>
            </a:schemeClr>
          </a:solidFill>
          <a:ln/>
        </p:spPr>
      </p:sp>
      <p:sp>
        <p:nvSpPr>
          <p:cNvPr id="7" name="Text 4"/>
          <p:cNvSpPr txBox="1"/>
          <p:nvPr/>
        </p:nvSpPr>
        <p:spPr>
          <a:xfrm>
            <a:off x="548640" y="1691640"/>
            <a:ext cx="6949440" cy="448056"/>
          </a:xfrm>
          <a:prstGeom prst="rect">
            <a:avLst/>
          </a:prstGeom>
          <a:noFill/>
          <a:ln/>
        </p:spPr>
        <p:txBody>
          <a:bodyPr wrap="square" lIns="0" tIns="0" rIns="0" bIns="0" rtlCol="0" anchor="ctr"/>
          <a:lstStyle/>
          <a:p>
            <a:pPr indent="0" marL="0">
              <a:buNone/>
            </a:pPr>
            <a:r>
              <a:rPr lang="en-US" sz="1300" b="1" dirty="0">
                <a:solidFill>
                  <a:srgbClr val="5E6B63"/>
                </a:solidFill>
              </a:rPr>
              <a:t>Capability</a:t>
            </a:r>
            <a:endParaRPr lang="en-US" sz="1300" dirty="0"/>
          </a:p>
        </p:txBody>
      </p:sp>
      <p:sp>
        <p:nvSpPr>
          <p:cNvPr id="8" name="Text 5"/>
          <p:cNvSpPr txBox="1"/>
          <p:nvPr/>
        </p:nvSpPr>
        <p:spPr>
          <a:xfrm>
            <a:off x="7498080" y="1691640"/>
            <a:ext cx="2011680" cy="448056"/>
          </a:xfrm>
          <a:prstGeom prst="rect">
            <a:avLst/>
          </a:prstGeom>
          <a:noFill/>
          <a:ln/>
        </p:spPr>
        <p:txBody>
          <a:bodyPr wrap="square" lIns="0" tIns="0" rIns="0" bIns="0" rtlCol="0" anchor="ctr"/>
          <a:lstStyle/>
          <a:p>
            <a:pPr algn="ctr" indent="0" marL="0">
              <a:buNone/>
            </a:pPr>
            <a:r>
              <a:rPr lang="en-US" sz="1300" b="1" dirty="0">
                <a:solidFill>
                  <a:srgbClr val="5E6B63"/>
                </a:solidFill>
              </a:rPr>
              <a:t>Rules-only</a:t>
            </a:r>
            <a:endParaRPr lang="en-US" sz="1300" dirty="0"/>
          </a:p>
        </p:txBody>
      </p:sp>
      <p:sp>
        <p:nvSpPr>
          <p:cNvPr id="9" name="Text 6"/>
          <p:cNvSpPr txBox="1"/>
          <p:nvPr/>
        </p:nvSpPr>
        <p:spPr>
          <a:xfrm>
            <a:off x="9509760" y="1691640"/>
            <a:ext cx="2103120" cy="448056"/>
          </a:xfrm>
          <a:prstGeom prst="rect">
            <a:avLst/>
          </a:prstGeom>
          <a:noFill/>
          <a:ln/>
        </p:spPr>
        <p:txBody>
          <a:bodyPr wrap="square" lIns="0" tIns="0" rIns="0" bIns="0" rtlCol="0" anchor="ctr"/>
          <a:lstStyle/>
          <a:p>
            <a:pPr algn="ctr" indent="0" marL="0">
              <a:buNone/>
            </a:pPr>
            <a:r>
              <a:rPr lang="en-US" sz="1500" b="1" dirty="0">
                <a:solidFill>
                  <a:schemeClr val="tx2"/>
                </a:solidFill>
              </a:rPr>
              <a:t>FraudLens</a:t>
            </a:r>
            <a:endParaRPr lang="en-US" sz="1500" dirty="0"/>
          </a:p>
        </p:txBody>
      </p:sp>
      <p:sp>
        <p:nvSpPr>
          <p:cNvPr id="10" name="Shape 7"/>
          <p:cNvSpPr/>
          <p:nvPr/>
        </p:nvSpPr>
        <p:spPr>
          <a:xfrm>
            <a:off x="548640" y="2139696"/>
            <a:ext cx="11064240" cy="0"/>
          </a:xfrm>
          <a:prstGeom prst="line">
            <a:avLst/>
          </a:prstGeom>
          <a:noFill/>
          <a:ln w="12700">
            <a:solidFill>
              <a:srgbClr val="DDE5DA"/>
            </a:solidFill>
            <a:prstDash val="solid"/>
          </a:ln>
        </p:spPr>
      </p:sp>
      <p:sp>
        <p:nvSpPr>
          <p:cNvPr id="11" name="Text 8"/>
          <p:cNvSpPr txBox="1"/>
          <p:nvPr/>
        </p:nvSpPr>
        <p:spPr>
          <a:xfrm>
            <a:off x="548640" y="2139696"/>
            <a:ext cx="6949440" cy="448056"/>
          </a:xfrm>
          <a:prstGeom prst="rect">
            <a:avLst/>
          </a:prstGeom>
          <a:noFill/>
          <a:ln/>
        </p:spPr>
        <p:txBody>
          <a:bodyPr wrap="square" lIns="0" tIns="0" rIns="0" bIns="0" rtlCol="0" anchor="ctr"/>
          <a:lstStyle/>
          <a:p>
            <a:pPr indent="0" marL="0">
              <a:buNone/>
            </a:pPr>
            <a:r>
              <a:rPr lang="en-US" sz="1450" dirty="0">
                <a:solidFill>
                  <a:schemeClr val="tx1"/>
                </a:solidFill>
              </a:rPr>
              <a:t>Looks at the receiving wallet and its network</a:t>
            </a:r>
            <a:endParaRPr lang="en-US" sz="1450" dirty="0"/>
          </a:p>
        </p:txBody>
      </p:sp>
      <p:sp>
        <p:nvSpPr>
          <p:cNvPr id="12" name="Icon circle"/>
          <p:cNvSpPr/>
          <p:nvPr/>
        </p:nvSpPr>
        <p:spPr>
          <a:xfrm>
            <a:off x="8339328" y="2199132"/>
            <a:ext cx="329184" cy="329184"/>
          </a:xfrm>
          <a:prstGeom prst="ellipse">
            <a:avLst/>
          </a:prstGeom>
          <a:solidFill>
            <a:srgbClr val="FDE3E4"/>
          </a:solidFill>
          <a:ln/>
        </p:spPr>
      </p:sp>
      <p:pic>
        <p:nvPicPr>
          <p:cNvPr id="13" name="Icon FaXmark" descr="preencoded.png">    </p:cNvPr>
          <p:cNvPicPr>
            <a:picLocks noChangeAspect="1"/>
          </p:cNvPicPr>
          <p:nvPr/>
        </p:nvPicPr>
        <p:blipFill>
          <a:blip r:embed="rId1"/>
          <a:stretch>
            <a:fillRect/>
          </a:stretch>
        </p:blipFill>
        <p:spPr>
          <a:xfrm>
            <a:off x="8421624" y="2281428"/>
            <a:ext cx="164592" cy="164592"/>
          </a:xfrm>
          <a:prstGeom prst="rect">
            <a:avLst/>
          </a:prstGeom>
        </p:spPr>
      </p:pic>
      <p:sp>
        <p:nvSpPr>
          <p:cNvPr id="14" name="Icon circle"/>
          <p:cNvSpPr/>
          <p:nvPr/>
        </p:nvSpPr>
        <p:spPr>
          <a:xfrm>
            <a:off x="10396728" y="2199132"/>
            <a:ext cx="329184" cy="329184"/>
          </a:xfrm>
          <a:prstGeom prst="ellipse">
            <a:avLst/>
          </a:prstGeom>
          <a:solidFill>
            <a:srgbClr val="1E9E4A"/>
          </a:solidFill>
          <a:ln/>
        </p:spPr>
      </p:sp>
      <p:pic>
        <p:nvPicPr>
          <p:cNvPr id="15" name="Icon FaCheck" descr="preencoded.png">    </p:cNvPr>
          <p:cNvPicPr>
            <a:picLocks noChangeAspect="1"/>
          </p:cNvPicPr>
          <p:nvPr/>
        </p:nvPicPr>
        <p:blipFill>
          <a:blip r:embed="rId2"/>
          <a:stretch>
            <a:fillRect/>
          </a:stretch>
        </p:blipFill>
        <p:spPr>
          <a:xfrm>
            <a:off x="10479024" y="2281428"/>
            <a:ext cx="164592" cy="164592"/>
          </a:xfrm>
          <a:prstGeom prst="rect">
            <a:avLst/>
          </a:prstGeom>
        </p:spPr>
      </p:pic>
      <p:sp>
        <p:nvSpPr>
          <p:cNvPr id="16" name="Shape 11"/>
          <p:cNvSpPr/>
          <p:nvPr/>
        </p:nvSpPr>
        <p:spPr>
          <a:xfrm>
            <a:off x="548640" y="2587752"/>
            <a:ext cx="11064240" cy="0"/>
          </a:xfrm>
          <a:prstGeom prst="line">
            <a:avLst/>
          </a:prstGeom>
          <a:noFill/>
          <a:ln w="12700">
            <a:solidFill>
              <a:srgbClr val="DDE5DA"/>
            </a:solidFill>
            <a:prstDash val="solid"/>
          </a:ln>
        </p:spPr>
      </p:sp>
      <p:sp>
        <p:nvSpPr>
          <p:cNvPr id="17" name="Text 12"/>
          <p:cNvSpPr txBox="1"/>
          <p:nvPr/>
        </p:nvSpPr>
        <p:spPr>
          <a:xfrm>
            <a:off x="548640" y="2587752"/>
            <a:ext cx="6949440" cy="448056"/>
          </a:xfrm>
          <a:prstGeom prst="rect">
            <a:avLst/>
          </a:prstGeom>
          <a:noFill/>
          <a:ln/>
        </p:spPr>
        <p:txBody>
          <a:bodyPr wrap="square" lIns="0" tIns="0" rIns="0" bIns="0" rtlCol="0" anchor="ctr"/>
          <a:lstStyle/>
          <a:p>
            <a:pPr indent="0" marL="0">
              <a:buNone/>
            </a:pPr>
            <a:r>
              <a:rPr lang="en-US" sz="1450" dirty="0">
                <a:solidFill>
                  <a:schemeClr val="tx1"/>
                </a:solidFill>
              </a:rPr>
              <a:t>Graduated response: warn → step-up → hold</a:t>
            </a:r>
            <a:endParaRPr lang="en-US" sz="1450" dirty="0"/>
          </a:p>
        </p:txBody>
      </p:sp>
      <p:sp>
        <p:nvSpPr>
          <p:cNvPr id="18" name="Icon circle"/>
          <p:cNvSpPr/>
          <p:nvPr/>
        </p:nvSpPr>
        <p:spPr>
          <a:xfrm>
            <a:off x="8339328" y="2647188"/>
            <a:ext cx="329184" cy="329184"/>
          </a:xfrm>
          <a:prstGeom prst="ellipse">
            <a:avLst/>
          </a:prstGeom>
          <a:solidFill>
            <a:srgbClr val="FDE3E4"/>
          </a:solidFill>
          <a:ln/>
        </p:spPr>
      </p:sp>
      <p:pic>
        <p:nvPicPr>
          <p:cNvPr id="19" name="Icon FaXmark" descr="preencoded.png">    </p:cNvPr>
          <p:cNvPicPr>
            <a:picLocks noChangeAspect="1"/>
          </p:cNvPicPr>
          <p:nvPr/>
        </p:nvPicPr>
        <p:blipFill>
          <a:blip r:embed="rId3"/>
          <a:stretch>
            <a:fillRect/>
          </a:stretch>
        </p:blipFill>
        <p:spPr>
          <a:xfrm>
            <a:off x="8421624" y="2729484"/>
            <a:ext cx="164592" cy="164592"/>
          </a:xfrm>
          <a:prstGeom prst="rect">
            <a:avLst/>
          </a:prstGeom>
        </p:spPr>
      </p:pic>
      <p:sp>
        <p:nvSpPr>
          <p:cNvPr id="20" name="Icon circle"/>
          <p:cNvSpPr/>
          <p:nvPr/>
        </p:nvSpPr>
        <p:spPr>
          <a:xfrm>
            <a:off x="10396728" y="2647188"/>
            <a:ext cx="329184" cy="329184"/>
          </a:xfrm>
          <a:prstGeom prst="ellipse">
            <a:avLst/>
          </a:prstGeom>
          <a:solidFill>
            <a:srgbClr val="1E9E4A"/>
          </a:solidFill>
          <a:ln/>
        </p:spPr>
      </p:sp>
      <p:pic>
        <p:nvPicPr>
          <p:cNvPr id="21" name="Icon FaCheck" descr="preencoded.png">    </p:cNvPr>
          <p:cNvPicPr>
            <a:picLocks noChangeAspect="1"/>
          </p:cNvPicPr>
          <p:nvPr/>
        </p:nvPicPr>
        <p:blipFill>
          <a:blip r:embed="rId4"/>
          <a:stretch>
            <a:fillRect/>
          </a:stretch>
        </p:blipFill>
        <p:spPr>
          <a:xfrm>
            <a:off x="10479024" y="2729484"/>
            <a:ext cx="164592" cy="164592"/>
          </a:xfrm>
          <a:prstGeom prst="rect">
            <a:avLst/>
          </a:prstGeom>
        </p:spPr>
      </p:pic>
      <p:sp>
        <p:nvSpPr>
          <p:cNvPr id="22" name="Shape 15"/>
          <p:cNvSpPr/>
          <p:nvPr/>
        </p:nvSpPr>
        <p:spPr>
          <a:xfrm>
            <a:off x="548640" y="3035808"/>
            <a:ext cx="11064240" cy="0"/>
          </a:xfrm>
          <a:prstGeom prst="line">
            <a:avLst/>
          </a:prstGeom>
          <a:noFill/>
          <a:ln w="12700">
            <a:solidFill>
              <a:srgbClr val="DDE5DA"/>
            </a:solidFill>
            <a:prstDash val="solid"/>
          </a:ln>
        </p:spPr>
      </p:sp>
      <p:sp>
        <p:nvSpPr>
          <p:cNvPr id="23" name="Text 16"/>
          <p:cNvSpPr txBox="1"/>
          <p:nvPr/>
        </p:nvSpPr>
        <p:spPr>
          <a:xfrm>
            <a:off x="548640" y="3035808"/>
            <a:ext cx="6949440" cy="448056"/>
          </a:xfrm>
          <a:prstGeom prst="rect">
            <a:avLst/>
          </a:prstGeom>
          <a:noFill/>
          <a:ln/>
        </p:spPr>
        <p:txBody>
          <a:bodyPr wrap="square" lIns="0" tIns="0" rIns="0" bIns="0" rtlCol="0" anchor="ctr"/>
          <a:lstStyle/>
          <a:p>
            <a:pPr indent="0" marL="0">
              <a:buNone/>
            </a:pPr>
            <a:r>
              <a:rPr lang="en-US" sz="1450" dirty="0">
                <a:solidFill>
                  <a:schemeClr val="tx1"/>
                </a:solidFill>
              </a:rPr>
              <a:t>Warnings in Bangla at the moment of payment</a:t>
            </a:r>
            <a:endParaRPr lang="en-US" sz="1450" dirty="0"/>
          </a:p>
        </p:txBody>
      </p:sp>
      <p:sp>
        <p:nvSpPr>
          <p:cNvPr id="24" name="Icon circle"/>
          <p:cNvSpPr/>
          <p:nvPr/>
        </p:nvSpPr>
        <p:spPr>
          <a:xfrm>
            <a:off x="8339328" y="3095244"/>
            <a:ext cx="329184" cy="329184"/>
          </a:xfrm>
          <a:prstGeom prst="ellipse">
            <a:avLst/>
          </a:prstGeom>
          <a:solidFill>
            <a:srgbClr val="FDE3E4"/>
          </a:solidFill>
          <a:ln/>
        </p:spPr>
      </p:sp>
      <p:pic>
        <p:nvPicPr>
          <p:cNvPr id="25" name="Icon FaXmark" descr="preencoded.png">    </p:cNvPr>
          <p:cNvPicPr>
            <a:picLocks noChangeAspect="1"/>
          </p:cNvPicPr>
          <p:nvPr/>
        </p:nvPicPr>
        <p:blipFill>
          <a:blip r:embed="rId5"/>
          <a:stretch>
            <a:fillRect/>
          </a:stretch>
        </p:blipFill>
        <p:spPr>
          <a:xfrm>
            <a:off x="8421624" y="3177540"/>
            <a:ext cx="164592" cy="164592"/>
          </a:xfrm>
          <a:prstGeom prst="rect">
            <a:avLst/>
          </a:prstGeom>
        </p:spPr>
      </p:pic>
      <p:sp>
        <p:nvSpPr>
          <p:cNvPr id="26" name="Icon circle"/>
          <p:cNvSpPr/>
          <p:nvPr/>
        </p:nvSpPr>
        <p:spPr>
          <a:xfrm>
            <a:off x="10396728" y="3095244"/>
            <a:ext cx="329184" cy="329184"/>
          </a:xfrm>
          <a:prstGeom prst="ellipse">
            <a:avLst/>
          </a:prstGeom>
          <a:solidFill>
            <a:srgbClr val="1E9E4A"/>
          </a:solidFill>
          <a:ln/>
        </p:spPr>
      </p:sp>
      <p:pic>
        <p:nvPicPr>
          <p:cNvPr id="27" name="Icon FaCheck" descr="preencoded.png">    </p:cNvPr>
          <p:cNvPicPr>
            <a:picLocks noChangeAspect="1"/>
          </p:cNvPicPr>
          <p:nvPr/>
        </p:nvPicPr>
        <p:blipFill>
          <a:blip r:embed="rId6"/>
          <a:stretch>
            <a:fillRect/>
          </a:stretch>
        </p:blipFill>
        <p:spPr>
          <a:xfrm>
            <a:off x="10479024" y="3177540"/>
            <a:ext cx="164592" cy="164592"/>
          </a:xfrm>
          <a:prstGeom prst="rect">
            <a:avLst/>
          </a:prstGeom>
        </p:spPr>
      </p:pic>
      <p:sp>
        <p:nvSpPr>
          <p:cNvPr id="28" name="Shape 19"/>
          <p:cNvSpPr/>
          <p:nvPr/>
        </p:nvSpPr>
        <p:spPr>
          <a:xfrm>
            <a:off x="548640" y="3483864"/>
            <a:ext cx="11064240" cy="0"/>
          </a:xfrm>
          <a:prstGeom prst="line">
            <a:avLst/>
          </a:prstGeom>
          <a:noFill/>
          <a:ln w="12700">
            <a:solidFill>
              <a:srgbClr val="DDE5DA"/>
            </a:solidFill>
            <a:prstDash val="solid"/>
          </a:ln>
        </p:spPr>
      </p:sp>
      <p:sp>
        <p:nvSpPr>
          <p:cNvPr id="29" name="Text 20"/>
          <p:cNvSpPr txBox="1"/>
          <p:nvPr/>
        </p:nvSpPr>
        <p:spPr>
          <a:xfrm>
            <a:off x="548640" y="3483864"/>
            <a:ext cx="6949440" cy="448056"/>
          </a:xfrm>
          <a:prstGeom prst="rect">
            <a:avLst/>
          </a:prstGeom>
          <a:noFill/>
          <a:ln/>
        </p:spPr>
        <p:txBody>
          <a:bodyPr wrap="square" lIns="0" tIns="0" rIns="0" bIns="0" rtlCol="0" anchor="ctr"/>
          <a:lstStyle/>
          <a:p>
            <a:pPr indent="0" marL="0">
              <a:buNone/>
            </a:pPr>
            <a:r>
              <a:rPr lang="en-US" sz="1450" dirty="0">
                <a:solidFill>
                  <a:schemeClr val="tx1"/>
                </a:solidFill>
              </a:rPr>
              <a:t>Exact reasons, rule trace and closest past case</a:t>
            </a:r>
            <a:endParaRPr lang="en-US" sz="1450" dirty="0"/>
          </a:p>
        </p:txBody>
      </p:sp>
      <p:sp>
        <p:nvSpPr>
          <p:cNvPr id="30" name="Icon circle"/>
          <p:cNvSpPr/>
          <p:nvPr/>
        </p:nvSpPr>
        <p:spPr>
          <a:xfrm>
            <a:off x="8339328" y="3543300"/>
            <a:ext cx="329184" cy="329184"/>
          </a:xfrm>
          <a:prstGeom prst="ellipse">
            <a:avLst/>
          </a:prstGeom>
          <a:solidFill>
            <a:srgbClr val="FDE3E4"/>
          </a:solidFill>
          <a:ln/>
        </p:spPr>
      </p:sp>
      <p:pic>
        <p:nvPicPr>
          <p:cNvPr id="31" name="Icon FaXmark" descr="preencoded.png">    </p:cNvPr>
          <p:cNvPicPr>
            <a:picLocks noChangeAspect="1"/>
          </p:cNvPicPr>
          <p:nvPr/>
        </p:nvPicPr>
        <p:blipFill>
          <a:blip r:embed="rId7"/>
          <a:stretch>
            <a:fillRect/>
          </a:stretch>
        </p:blipFill>
        <p:spPr>
          <a:xfrm>
            <a:off x="8421624" y="3625596"/>
            <a:ext cx="164592" cy="164592"/>
          </a:xfrm>
          <a:prstGeom prst="rect">
            <a:avLst/>
          </a:prstGeom>
        </p:spPr>
      </p:pic>
      <p:sp>
        <p:nvSpPr>
          <p:cNvPr id="32" name="Icon circle"/>
          <p:cNvSpPr/>
          <p:nvPr/>
        </p:nvSpPr>
        <p:spPr>
          <a:xfrm>
            <a:off x="10396728" y="3543300"/>
            <a:ext cx="329184" cy="329184"/>
          </a:xfrm>
          <a:prstGeom prst="ellipse">
            <a:avLst/>
          </a:prstGeom>
          <a:solidFill>
            <a:srgbClr val="1E9E4A"/>
          </a:solidFill>
          <a:ln/>
        </p:spPr>
      </p:sp>
      <p:pic>
        <p:nvPicPr>
          <p:cNvPr id="33" name="Icon FaCheck" descr="preencoded.png">    </p:cNvPr>
          <p:cNvPicPr>
            <a:picLocks noChangeAspect="1"/>
          </p:cNvPicPr>
          <p:nvPr/>
        </p:nvPicPr>
        <p:blipFill>
          <a:blip r:embed="rId8"/>
          <a:stretch>
            <a:fillRect/>
          </a:stretch>
        </p:blipFill>
        <p:spPr>
          <a:xfrm>
            <a:off x="10479024" y="3625596"/>
            <a:ext cx="164592" cy="164592"/>
          </a:xfrm>
          <a:prstGeom prst="rect">
            <a:avLst/>
          </a:prstGeom>
        </p:spPr>
      </p:pic>
      <p:sp>
        <p:nvSpPr>
          <p:cNvPr id="34" name="Shape 23"/>
          <p:cNvSpPr/>
          <p:nvPr/>
        </p:nvSpPr>
        <p:spPr>
          <a:xfrm>
            <a:off x="548640" y="3931920"/>
            <a:ext cx="11064240" cy="0"/>
          </a:xfrm>
          <a:prstGeom prst="line">
            <a:avLst/>
          </a:prstGeom>
          <a:noFill/>
          <a:ln w="12700">
            <a:solidFill>
              <a:srgbClr val="DDE5DA"/>
            </a:solidFill>
            <a:prstDash val="solid"/>
          </a:ln>
        </p:spPr>
      </p:sp>
      <p:sp>
        <p:nvSpPr>
          <p:cNvPr id="35" name="Text 24"/>
          <p:cNvSpPr txBox="1"/>
          <p:nvPr/>
        </p:nvSpPr>
        <p:spPr>
          <a:xfrm>
            <a:off x="548640" y="3931920"/>
            <a:ext cx="6949440" cy="448056"/>
          </a:xfrm>
          <a:prstGeom prst="rect">
            <a:avLst/>
          </a:prstGeom>
          <a:noFill/>
          <a:ln/>
        </p:spPr>
        <p:txBody>
          <a:bodyPr wrap="square" lIns="0" tIns="0" rIns="0" bIns="0" rtlCol="0" anchor="ctr"/>
          <a:lstStyle/>
          <a:p>
            <a:pPr indent="0" marL="0">
              <a:buNone/>
            </a:pPr>
            <a:r>
              <a:rPr lang="en-US" sz="1450" dirty="0">
                <a:solidFill>
                  <a:schemeClr val="tx1"/>
                </a:solidFill>
              </a:rPr>
              <a:t>Catches a scam type it has never seen (70% at warn)</a:t>
            </a:r>
            <a:endParaRPr lang="en-US" sz="1450" dirty="0"/>
          </a:p>
        </p:txBody>
      </p:sp>
      <p:sp>
        <p:nvSpPr>
          <p:cNvPr id="36" name="Icon circle"/>
          <p:cNvSpPr/>
          <p:nvPr/>
        </p:nvSpPr>
        <p:spPr>
          <a:xfrm>
            <a:off x="8339328" y="3991356"/>
            <a:ext cx="329184" cy="329184"/>
          </a:xfrm>
          <a:prstGeom prst="ellipse">
            <a:avLst/>
          </a:prstGeom>
          <a:solidFill>
            <a:srgbClr val="FDE3E4"/>
          </a:solidFill>
          <a:ln/>
        </p:spPr>
      </p:sp>
      <p:pic>
        <p:nvPicPr>
          <p:cNvPr id="37" name="Icon FaXmark" descr="preencoded.png">    </p:cNvPr>
          <p:cNvPicPr>
            <a:picLocks noChangeAspect="1"/>
          </p:cNvPicPr>
          <p:nvPr/>
        </p:nvPicPr>
        <p:blipFill>
          <a:blip r:embed="rId9"/>
          <a:stretch>
            <a:fillRect/>
          </a:stretch>
        </p:blipFill>
        <p:spPr>
          <a:xfrm>
            <a:off x="8421624" y="4073652"/>
            <a:ext cx="164592" cy="164592"/>
          </a:xfrm>
          <a:prstGeom prst="rect">
            <a:avLst/>
          </a:prstGeom>
        </p:spPr>
      </p:pic>
      <p:sp>
        <p:nvSpPr>
          <p:cNvPr id="38" name="Icon circle"/>
          <p:cNvSpPr/>
          <p:nvPr/>
        </p:nvSpPr>
        <p:spPr>
          <a:xfrm>
            <a:off x="10396728" y="3991356"/>
            <a:ext cx="329184" cy="329184"/>
          </a:xfrm>
          <a:prstGeom prst="ellipse">
            <a:avLst/>
          </a:prstGeom>
          <a:solidFill>
            <a:srgbClr val="1E9E4A"/>
          </a:solidFill>
          <a:ln/>
        </p:spPr>
      </p:sp>
      <p:pic>
        <p:nvPicPr>
          <p:cNvPr id="39" name="Icon FaCheck" descr="preencoded.png">    </p:cNvPr>
          <p:cNvPicPr>
            <a:picLocks noChangeAspect="1"/>
          </p:cNvPicPr>
          <p:nvPr/>
        </p:nvPicPr>
        <p:blipFill>
          <a:blip r:embed="rId10"/>
          <a:stretch>
            <a:fillRect/>
          </a:stretch>
        </p:blipFill>
        <p:spPr>
          <a:xfrm>
            <a:off x="10479024" y="4073652"/>
            <a:ext cx="164592" cy="164592"/>
          </a:xfrm>
          <a:prstGeom prst="rect">
            <a:avLst/>
          </a:prstGeom>
        </p:spPr>
      </p:pic>
      <p:sp>
        <p:nvSpPr>
          <p:cNvPr id="40" name="Shape 27"/>
          <p:cNvSpPr/>
          <p:nvPr/>
        </p:nvSpPr>
        <p:spPr>
          <a:xfrm>
            <a:off x="548640" y="4379976"/>
            <a:ext cx="11064240" cy="0"/>
          </a:xfrm>
          <a:prstGeom prst="line">
            <a:avLst/>
          </a:prstGeom>
          <a:noFill/>
          <a:ln w="12700">
            <a:solidFill>
              <a:srgbClr val="DDE5DA"/>
            </a:solidFill>
            <a:prstDash val="solid"/>
          </a:ln>
        </p:spPr>
      </p:sp>
      <p:sp>
        <p:nvSpPr>
          <p:cNvPr id="41" name="Text 28"/>
          <p:cNvSpPr txBox="1"/>
          <p:nvPr/>
        </p:nvSpPr>
        <p:spPr>
          <a:xfrm>
            <a:off x="548640" y="4379976"/>
            <a:ext cx="6949440" cy="448056"/>
          </a:xfrm>
          <a:prstGeom prst="rect">
            <a:avLst/>
          </a:prstGeom>
          <a:noFill/>
          <a:ln/>
        </p:spPr>
        <p:txBody>
          <a:bodyPr wrap="square" lIns="0" tIns="0" rIns="0" bIns="0" rtlCol="0" anchor="ctr"/>
          <a:lstStyle/>
          <a:p>
            <a:pPr indent="0" marL="0">
              <a:buNone/>
            </a:pPr>
            <a:r>
              <a:rPr lang="en-US" sz="1450" dirty="0">
                <a:solidFill>
                  <a:schemeClr val="tx1"/>
                </a:solidFill>
              </a:rPr>
              <a:t>Second chance at cash-out; mules found before victims pay</a:t>
            </a:r>
            <a:endParaRPr lang="en-US" sz="1450" dirty="0"/>
          </a:p>
        </p:txBody>
      </p:sp>
      <p:sp>
        <p:nvSpPr>
          <p:cNvPr id="42" name="Icon circle"/>
          <p:cNvSpPr/>
          <p:nvPr/>
        </p:nvSpPr>
        <p:spPr>
          <a:xfrm>
            <a:off x="8339328" y="4439412"/>
            <a:ext cx="329184" cy="329184"/>
          </a:xfrm>
          <a:prstGeom prst="ellipse">
            <a:avLst/>
          </a:prstGeom>
          <a:solidFill>
            <a:srgbClr val="FDE3E4"/>
          </a:solidFill>
          <a:ln/>
        </p:spPr>
      </p:sp>
      <p:pic>
        <p:nvPicPr>
          <p:cNvPr id="43" name="Icon FaXmark" descr="preencoded.png">    </p:cNvPr>
          <p:cNvPicPr>
            <a:picLocks noChangeAspect="1"/>
          </p:cNvPicPr>
          <p:nvPr/>
        </p:nvPicPr>
        <p:blipFill>
          <a:blip r:embed="rId11"/>
          <a:stretch>
            <a:fillRect/>
          </a:stretch>
        </p:blipFill>
        <p:spPr>
          <a:xfrm>
            <a:off x="8421624" y="4521708"/>
            <a:ext cx="164592" cy="164592"/>
          </a:xfrm>
          <a:prstGeom prst="rect">
            <a:avLst/>
          </a:prstGeom>
        </p:spPr>
      </p:pic>
      <p:sp>
        <p:nvSpPr>
          <p:cNvPr id="44" name="Icon circle"/>
          <p:cNvSpPr/>
          <p:nvPr/>
        </p:nvSpPr>
        <p:spPr>
          <a:xfrm>
            <a:off x="10396728" y="4439412"/>
            <a:ext cx="329184" cy="329184"/>
          </a:xfrm>
          <a:prstGeom prst="ellipse">
            <a:avLst/>
          </a:prstGeom>
          <a:solidFill>
            <a:srgbClr val="1E9E4A"/>
          </a:solidFill>
          <a:ln/>
        </p:spPr>
      </p:sp>
      <p:pic>
        <p:nvPicPr>
          <p:cNvPr id="45" name="Icon FaCheck" descr="preencoded.png">    </p:cNvPr>
          <p:cNvPicPr>
            <a:picLocks noChangeAspect="1"/>
          </p:cNvPicPr>
          <p:nvPr/>
        </p:nvPicPr>
        <p:blipFill>
          <a:blip r:embed="rId12"/>
          <a:stretch>
            <a:fillRect/>
          </a:stretch>
        </p:blipFill>
        <p:spPr>
          <a:xfrm>
            <a:off x="10479024" y="4521708"/>
            <a:ext cx="164592" cy="164592"/>
          </a:xfrm>
          <a:prstGeom prst="rect">
            <a:avLst/>
          </a:prstGeom>
        </p:spPr>
      </p:pic>
      <p:sp>
        <p:nvSpPr>
          <p:cNvPr id="46" name="Shape 31"/>
          <p:cNvSpPr/>
          <p:nvPr/>
        </p:nvSpPr>
        <p:spPr>
          <a:xfrm>
            <a:off x="548640" y="4828032"/>
            <a:ext cx="11064240" cy="0"/>
          </a:xfrm>
          <a:prstGeom prst="line">
            <a:avLst/>
          </a:prstGeom>
          <a:noFill/>
          <a:ln w="12700">
            <a:solidFill>
              <a:srgbClr val="DDE5DA"/>
            </a:solidFill>
            <a:prstDash val="solid"/>
          </a:ln>
        </p:spPr>
      </p:sp>
      <p:sp>
        <p:nvSpPr>
          <p:cNvPr id="47" name="Text 32"/>
          <p:cNvSpPr txBox="1"/>
          <p:nvPr/>
        </p:nvSpPr>
        <p:spPr>
          <a:xfrm>
            <a:off x="548640" y="4828032"/>
            <a:ext cx="6949440" cy="448056"/>
          </a:xfrm>
          <a:prstGeom prst="rect">
            <a:avLst/>
          </a:prstGeom>
          <a:noFill/>
          <a:ln/>
        </p:spPr>
        <p:txBody>
          <a:bodyPr wrap="square" lIns="0" tIns="0" rIns="0" bIns="0" rtlCol="0" anchor="ctr"/>
          <a:lstStyle/>
          <a:p>
            <a:pPr indent="0" marL="0">
              <a:buNone/>
            </a:pPr>
            <a:r>
              <a:rPr lang="en-US" sz="1450" dirty="0">
                <a:solidFill>
                  <a:schemeClr val="tx1"/>
                </a:solidFill>
              </a:rPr>
              <a:t>Human decides holds; two-person freeze; append-only audit</a:t>
            </a:r>
            <a:endParaRPr lang="en-US" sz="1450" dirty="0"/>
          </a:p>
        </p:txBody>
      </p:sp>
      <p:sp>
        <p:nvSpPr>
          <p:cNvPr id="48" name="Text 33"/>
          <p:cNvSpPr txBox="1"/>
          <p:nvPr/>
        </p:nvSpPr>
        <p:spPr>
          <a:xfrm>
            <a:off x="7498080" y="4828032"/>
            <a:ext cx="2011680" cy="448056"/>
          </a:xfrm>
          <a:prstGeom prst="rect">
            <a:avLst/>
          </a:prstGeom>
          <a:noFill/>
          <a:ln/>
        </p:spPr>
        <p:txBody>
          <a:bodyPr wrap="square" lIns="0" tIns="0" rIns="0" bIns="0" rtlCol="0" anchor="ctr"/>
          <a:lstStyle/>
          <a:p>
            <a:pPr algn="ctr" indent="0" marL="0">
              <a:buNone/>
            </a:pPr>
            <a:r>
              <a:rPr lang="en-US" sz="1250" i="1" dirty="0">
                <a:solidFill>
                  <a:srgbClr val="5E6B63"/>
                </a:solidFill>
              </a:rPr>
              <a:t>partial</a:t>
            </a:r>
            <a:endParaRPr lang="en-US" sz="1250" dirty="0"/>
          </a:p>
        </p:txBody>
      </p:sp>
      <p:sp>
        <p:nvSpPr>
          <p:cNvPr id="49" name="Icon circle"/>
          <p:cNvSpPr/>
          <p:nvPr/>
        </p:nvSpPr>
        <p:spPr>
          <a:xfrm>
            <a:off x="10396728" y="4887468"/>
            <a:ext cx="329184" cy="329184"/>
          </a:xfrm>
          <a:prstGeom prst="ellipse">
            <a:avLst/>
          </a:prstGeom>
          <a:solidFill>
            <a:srgbClr val="1E9E4A"/>
          </a:solidFill>
          <a:ln/>
        </p:spPr>
      </p:sp>
      <p:pic>
        <p:nvPicPr>
          <p:cNvPr id="50" name="Icon FaCheck" descr="preencoded.png">    </p:cNvPr>
          <p:cNvPicPr>
            <a:picLocks noChangeAspect="1"/>
          </p:cNvPicPr>
          <p:nvPr/>
        </p:nvPicPr>
        <p:blipFill>
          <a:blip r:embed="rId13"/>
          <a:stretch>
            <a:fillRect/>
          </a:stretch>
        </p:blipFill>
        <p:spPr>
          <a:xfrm>
            <a:off x="10479024" y="4969764"/>
            <a:ext cx="164592" cy="164592"/>
          </a:xfrm>
          <a:prstGeom prst="rect">
            <a:avLst/>
          </a:prstGeom>
        </p:spPr>
      </p:pic>
      <p:sp>
        <p:nvSpPr>
          <p:cNvPr id="51" name="Shape 35"/>
          <p:cNvSpPr/>
          <p:nvPr/>
        </p:nvSpPr>
        <p:spPr>
          <a:xfrm>
            <a:off x="548640" y="5276088"/>
            <a:ext cx="11064240" cy="0"/>
          </a:xfrm>
          <a:prstGeom prst="line">
            <a:avLst/>
          </a:prstGeom>
          <a:noFill/>
          <a:ln w="12700">
            <a:solidFill>
              <a:srgbClr val="DDE5DA"/>
            </a:solidFill>
            <a:prstDash val="solid"/>
          </a:ln>
        </p:spPr>
      </p:sp>
      <p:sp>
        <p:nvSpPr>
          <p:cNvPr id="52" name="Text 36"/>
          <p:cNvSpPr txBox="1"/>
          <p:nvPr/>
        </p:nvSpPr>
        <p:spPr>
          <a:xfrm>
            <a:off x="548640" y="5276088"/>
            <a:ext cx="6949440" cy="448056"/>
          </a:xfrm>
          <a:prstGeom prst="rect">
            <a:avLst/>
          </a:prstGeom>
          <a:noFill/>
          <a:ln/>
        </p:spPr>
        <p:txBody>
          <a:bodyPr wrap="square" lIns="0" tIns="0" rIns="0" bIns="0" rtlCol="0" anchor="ctr"/>
          <a:lstStyle/>
          <a:p>
            <a:pPr indent="0" marL="0">
              <a:buNone/>
            </a:pPr>
            <a:r>
              <a:rPr lang="en-US" sz="1450" dirty="0">
                <a:solidFill>
                  <a:schemeClr val="tx1"/>
                </a:solidFill>
              </a:rPr>
              <a:t>Served = evaluated, proven on 136,180 decisions</a:t>
            </a:r>
            <a:endParaRPr lang="en-US" sz="1450" dirty="0"/>
          </a:p>
        </p:txBody>
      </p:sp>
      <p:sp>
        <p:nvSpPr>
          <p:cNvPr id="53" name="Icon circle"/>
          <p:cNvSpPr/>
          <p:nvPr/>
        </p:nvSpPr>
        <p:spPr>
          <a:xfrm>
            <a:off x="8339328" y="5335524"/>
            <a:ext cx="329184" cy="329184"/>
          </a:xfrm>
          <a:prstGeom prst="ellipse">
            <a:avLst/>
          </a:prstGeom>
          <a:solidFill>
            <a:srgbClr val="FDE3E4"/>
          </a:solidFill>
          <a:ln/>
        </p:spPr>
      </p:sp>
      <p:pic>
        <p:nvPicPr>
          <p:cNvPr id="54" name="Icon FaXmark" descr="preencoded.png">    </p:cNvPr>
          <p:cNvPicPr>
            <a:picLocks noChangeAspect="1"/>
          </p:cNvPicPr>
          <p:nvPr/>
        </p:nvPicPr>
        <p:blipFill>
          <a:blip r:embed="rId14"/>
          <a:stretch>
            <a:fillRect/>
          </a:stretch>
        </p:blipFill>
        <p:spPr>
          <a:xfrm>
            <a:off x="8421624" y="5417820"/>
            <a:ext cx="164592" cy="164592"/>
          </a:xfrm>
          <a:prstGeom prst="rect">
            <a:avLst/>
          </a:prstGeom>
        </p:spPr>
      </p:pic>
      <p:sp>
        <p:nvSpPr>
          <p:cNvPr id="55" name="Icon circle"/>
          <p:cNvSpPr/>
          <p:nvPr/>
        </p:nvSpPr>
        <p:spPr>
          <a:xfrm>
            <a:off x="10396728" y="5335524"/>
            <a:ext cx="329184" cy="329184"/>
          </a:xfrm>
          <a:prstGeom prst="ellipse">
            <a:avLst/>
          </a:prstGeom>
          <a:solidFill>
            <a:srgbClr val="1E9E4A"/>
          </a:solidFill>
          <a:ln/>
        </p:spPr>
      </p:sp>
      <p:pic>
        <p:nvPicPr>
          <p:cNvPr id="56" name="Icon FaCheck" descr="preencoded.png">    </p:cNvPr>
          <p:cNvPicPr>
            <a:picLocks noChangeAspect="1"/>
          </p:cNvPicPr>
          <p:nvPr/>
        </p:nvPicPr>
        <p:blipFill>
          <a:blip r:embed="rId15"/>
          <a:stretch>
            <a:fillRect/>
          </a:stretch>
        </p:blipFill>
        <p:spPr>
          <a:xfrm>
            <a:off x="10479024" y="5417820"/>
            <a:ext cx="164592" cy="164592"/>
          </a:xfrm>
          <a:prstGeom prst="rect">
            <a:avLst/>
          </a:prstGeom>
        </p:spPr>
      </p:pic>
      <p:sp>
        <p:nvSpPr>
          <p:cNvPr id="57" name="Text 39"/>
          <p:cNvSpPr txBox="1"/>
          <p:nvPr/>
        </p:nvSpPr>
        <p:spPr>
          <a:xfrm>
            <a:off x="548640" y="5916168"/>
            <a:ext cx="11064240" cy="320040"/>
          </a:xfrm>
          <a:prstGeom prst="rect">
            <a:avLst/>
          </a:prstGeom>
          <a:noFill/>
          <a:ln/>
        </p:spPr>
        <p:txBody>
          <a:bodyPr wrap="square" lIns="0" tIns="0" rIns="0" bIns="0" rtlCol="0" anchor="t"/>
          <a:lstStyle/>
          <a:p>
            <a:pPr indent="0" marL="0">
              <a:buNone/>
            </a:pPr>
            <a:r>
              <a:rPr lang="en-US" sz="1400" b="1" i="1" dirty="0">
                <a:solidFill>
                  <a:schemeClr val="accent1"/>
                </a:solidFill>
              </a:rPr>
              <a:t>The model ranks and explains, the customer gets the first say, and a person makes every irreversible decision.</a:t>
            </a:r>
            <a:endParaRPr lang="en-US" sz="1400" dirty="0"/>
          </a:p>
        </p:txBody>
      </p:sp>
      <p:sp>
        <p:nvSpPr>
          <p:cNvPr id="25" name="Slide Number Placeholder 0"/>
          <p:cNvSpPr>
            <a:spLocks noGrp="1"/>
          </p:cNvSpPr>
          <p:nvPr>
            <p:ph type="sldNum" sz="quarter" idx="4294967295"/>
          </p:nvPr>
        </p:nvSpPr>
        <p:spPr>
          <a:xfrm>
            <a:off x="11155680" y="6364224"/>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ig circle"/>
          <p:cNvSpPr/>
          <p:nvPr/>
        </p:nvSpPr>
        <p:spPr>
          <a:xfrm>
            <a:off x="-2011680" y="3291840"/>
            <a:ext cx="5852160" cy="5852160"/>
          </a:xfrm>
          <a:prstGeom prst="ellipse">
            <a:avLst/>
          </a:prstGeom>
          <a:solidFill>
            <a:schemeClr val="accent1"/>
          </a:solidFill>
          <a:ln/>
        </p:spPr>
      </p:sp>
      <p:sp>
        <p:nvSpPr>
          <p:cNvPr id="3" name="Yellow circle"/>
          <p:cNvSpPr/>
          <p:nvPr/>
        </p:nvSpPr>
        <p:spPr>
          <a:xfrm>
            <a:off x="9966960" y="-1188720"/>
            <a:ext cx="3291840" cy="3291840"/>
          </a:xfrm>
          <a:prstGeom prst="ellipse">
            <a:avLst/>
          </a:prstGeom>
          <a:solidFill>
            <a:schemeClr val="accent2"/>
          </a:solidFill>
          <a:ln/>
        </p:spPr>
      </p:sp>
      <p:pic>
        <p:nvPicPr>
          <p:cNvPr id="4" name="Logo" descr="img/logo.png">    </p:cNvPr>
          <p:cNvPicPr>
            <a:picLocks noChangeAspect="1"/>
          </p:cNvPicPr>
          <p:nvPr/>
        </p:nvPicPr>
        <p:blipFill>
          <a:blip r:embed="rId1"/>
          <a:stretch>
            <a:fillRect/>
          </a:stretch>
        </p:blipFill>
        <p:spPr>
          <a:xfrm>
            <a:off x="5458968" y="868680"/>
            <a:ext cx="1280160" cy="1280160"/>
          </a:xfrm>
          <a:prstGeom prst="rect">
            <a:avLst/>
          </a:prstGeom>
        </p:spPr>
      </p:pic>
      <p:sp>
        <p:nvSpPr>
          <p:cNvPr id="5" name="Text 2"/>
          <p:cNvSpPr txBox="1"/>
          <p:nvPr/>
        </p:nvSpPr>
        <p:spPr>
          <a:xfrm>
            <a:off x="1371600" y="2377440"/>
            <a:ext cx="9445752" cy="1371600"/>
          </a:xfrm>
          <a:prstGeom prst="rect">
            <a:avLst/>
          </a:prstGeom>
          <a:noFill/>
          <a:ln/>
        </p:spPr>
        <p:txBody>
          <a:bodyPr wrap="square" lIns="0" tIns="0" rIns="0" bIns="0" rtlCol="0" anchor="ctr"/>
          <a:lstStyle/>
          <a:p>
            <a:pPr algn="ctr" indent="0" marL="0">
              <a:buNone/>
            </a:pPr>
            <a:r>
              <a:rPr lang="en-US" sz="3200" b="1" dirty="0">
                <a:solidFill>
                  <a:schemeClr val="bg1"/>
                </a:solidFill>
              </a:rPr>
              <a:t>The victim presses send,</a:t>
            </a:r>
            <a:endParaRPr lang="en-US" sz="3200" dirty="0"/>
          </a:p>
          <a:p>
            <a:pPr algn="ctr" indent="0" marL="0">
              <a:buNone/>
            </a:pPr>
            <a:r>
              <a:rPr lang="en-US" sz="3200" b="1" dirty="0">
                <a:solidFill>
                  <a:schemeClr val="bg1"/>
                </a:solidFill>
              </a:rPr>
              <a:t>so look at where the money is going.</a:t>
            </a:r>
            <a:endParaRPr lang="en-US" sz="3200" dirty="0"/>
          </a:p>
        </p:txBody>
      </p:sp>
      <p:sp>
        <p:nvSpPr>
          <p:cNvPr id="6" name="Text 3"/>
          <p:cNvSpPr txBox="1"/>
          <p:nvPr/>
        </p:nvSpPr>
        <p:spPr>
          <a:xfrm>
            <a:off x="1371600" y="3886200"/>
            <a:ext cx="9445752" cy="548640"/>
          </a:xfrm>
          <a:prstGeom prst="rect">
            <a:avLst/>
          </a:prstGeom>
          <a:noFill/>
          <a:ln/>
        </p:spPr>
        <p:txBody>
          <a:bodyPr wrap="square" lIns="0" tIns="0" rIns="0" bIns="0" rtlCol="0" anchor="t"/>
          <a:lstStyle/>
          <a:p>
            <a:pPr algn="ctr" indent="0" marL="0">
              <a:buNone/>
            </a:pPr>
            <a:r>
              <a:rPr lang="en-US" sz="2600" b="1" dirty="0">
                <a:solidFill>
                  <a:schemeClr val="accent2"/>
                </a:solidFill>
              </a:rPr>
              <a:t>Thank you</a:t>
            </a:r>
            <a:endParaRPr lang="en-US" sz="2600" dirty="0"/>
          </a:p>
        </p:txBody>
      </p:sp>
      <p:sp>
        <p:nvSpPr>
          <p:cNvPr id="7" name="Text 4"/>
          <p:cNvSpPr txBox="1"/>
          <p:nvPr/>
        </p:nvSpPr>
        <p:spPr>
          <a:xfrm>
            <a:off x="1371600" y="4434840"/>
            <a:ext cx="9445752" cy="411480"/>
          </a:xfrm>
          <a:prstGeom prst="rect">
            <a:avLst/>
          </a:prstGeom>
          <a:noFill/>
          <a:ln/>
        </p:spPr>
        <p:txBody>
          <a:bodyPr wrap="square" lIns="0" tIns="0" rIns="0" bIns="0" rtlCol="0" anchor="t"/>
          <a:lstStyle/>
          <a:p>
            <a:pPr algn="ctr" indent="0" marL="0">
              <a:buNone/>
            </a:pPr>
            <a:r>
              <a:rPr lang="en-US" sz="1800" dirty="0">
                <a:solidFill>
                  <a:srgbClr val="CFDACF"/>
                </a:solidFill>
              </a:rPr>
              <a:t>Questions &amp; live demo</a:t>
            </a:r>
            <a:endParaRPr lang="en-US" sz="1800" dirty="0"/>
          </a:p>
        </p:txBody>
      </p:sp>
      <p:sp>
        <p:nvSpPr>
          <p:cNvPr id="8" name="Team pill"/>
          <p:cNvSpPr/>
          <p:nvPr/>
        </p:nvSpPr>
        <p:spPr>
          <a:xfrm>
            <a:off x="5047488" y="5257800"/>
            <a:ext cx="2103120" cy="384048"/>
          </a:xfrm>
          <a:prstGeom prst="roundRect">
            <a:avLst>
              <a:gd name="adj" fmla="val 50000"/>
            </a:avLst>
          </a:prstGeom>
          <a:solidFill>
            <a:schemeClr val="accent2"/>
          </a:solidFill>
          <a:ln/>
        </p:spPr>
      </p:sp>
      <p:sp>
        <p:nvSpPr>
          <p:cNvPr id="9" name="Text 6"/>
          <p:cNvSpPr txBox="1"/>
          <p:nvPr/>
        </p:nvSpPr>
        <p:spPr>
          <a:xfrm>
            <a:off x="5047488" y="5257800"/>
            <a:ext cx="2103120" cy="384048"/>
          </a:xfrm>
          <a:prstGeom prst="rect">
            <a:avLst/>
          </a:prstGeom>
          <a:noFill/>
          <a:ln/>
        </p:spPr>
        <p:txBody>
          <a:bodyPr wrap="square" lIns="0" tIns="0" rIns="0" bIns="0" rtlCol="0" anchor="ctr"/>
          <a:lstStyle/>
          <a:p>
            <a:pPr algn="ctr" indent="0" marL="0">
              <a:buNone/>
            </a:pPr>
            <a:r>
              <a:rPr lang="en-US" sz="1400" b="1" spc="200" kern="0" dirty="0">
                <a:solidFill>
                  <a:schemeClr val="tx2"/>
                </a:solidFill>
              </a:rPr>
              <a:t>TEAM WEBNEST</a:t>
            </a:r>
            <a:endParaRPr lang="en-US" sz="1400" dirty="0"/>
          </a:p>
        </p:txBody>
      </p:sp>
    </p:spTree>
  </p:cSld>
  <p:clrMapOvr>
    <a:masterClrMapping/>
  </p:clrMapOvr>
</p:sld>
</file>

<file path=ppt/theme/theme1.xml><?xml version="1.0" encoding="utf-8"?>
<a:theme xmlns:a="http://schemas.openxmlformats.org/drawingml/2006/main" name="FraudLens Green">
  <a:themeElements>
    <a:clrScheme name="FraudLens Green">
      <a:dk1>
        <a:srgbClr val="1F2622"/>
      </a:dk1>
      <a:lt1>
        <a:srgbClr val="FFFFFF"/>
      </a:lt1>
      <a:dk2>
        <a:srgbClr val="16231C"/>
      </a:dk2>
      <a:lt2>
        <a:srgbClr val="EEF3EC"/>
      </a:lt2>
      <a:accent1>
        <a:srgbClr val="3E7C64"/>
      </a:accent1>
      <a:accent2>
        <a:srgbClr val="FFD600"/>
      </a:accent2>
      <a:accent3>
        <a:srgbClr val="A8BCA1"/>
      </a:accent3>
      <a:accent4>
        <a:srgbClr val="1E9E4A"/>
      </a:accent4>
      <a:accent5>
        <a:srgbClr val="F08A24"/>
      </a:accent5>
      <a:accent6>
        <a:srgbClr val="E5484D"/>
      </a:accent6>
      <a:hlink>
        <a:srgbClr val="3E7C64"/>
      </a:hlink>
      <a:folHlink>
        <a:srgbClr val="6B5BA8"/>
      </a:folHlink>
    </a:clrScheme>
    <a:fontScheme name="FraudLens Gree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Team Webnest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FraudLens — Team Webnest</dc:title>
  <dc:subject>PptxGenJS Presentation</dc:subject>
  <dc:creator>Team Webnest</dc:creator>
  <cp:lastModifiedBy>Team Webnest</cp:lastModifiedBy>
  <cp:revision>1</cp:revision>
  <dcterms:created xsi:type="dcterms:W3CDTF">2026-10-04T04:14:54Z</dcterms:created>
  <dcterms:modified xsi:type="dcterms:W3CDTF">2026-10-04T04:14:54Z</dcterms:modified>
</cp:coreProperties>
</file>